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Lst>
  <p:notesMasterIdLst>
    <p:notesMasterId r:id="rId4"/>
  </p:notesMasterIdLst>
  <p:sldIdLst>
    <p:sldId id="257" r:id="rId6"/>
    <p:sldId id="276" r:id="rId51"/>
    <p:sldId id="277" r:id="rId52"/>
    <p:sldId id="278" r:id="rId53"/>
    <p:sldId id="279" r:id="rId54"/>
    <p:sldId id="280" r:id="rId55"/>
    <p:sldId id="281" r:id="rId56"/>
    <p:sldId id="282" r:id="rId57"/>
    <p:sldId id="283" r:id="rId58"/>
    <p:sldId id="284" r:id="rId59"/>
    <p:sldId id="285" r:id="rId60"/>
    <p:sldId id="286" r:id="rId61"/>
    <p:sldId id="287" r:id="rId62"/>
    <p:sldId id="288" r:id="rId63"/>
    <p:sldId id="289" r:id="rId64"/>
    <p:sldId id="290" r:id="rId65"/>
    <p:sldId id="275" r:id="rId24"/>
  </p:sldIdLst>
  <p:sldSz cy="6858000" cx="12192000"/>
  <p:notesSz cx="6858000" cy="9144000"/>
  <p:embeddedFontLst>
    <p:embeddedFont>
      <p:font typeface="Poppins"/>
      <p:regular r:id="rId25"/>
      <p:bold r:id="rId26"/>
      <p:italic r:id="rId27"/>
      <p:boldItalic r:id="rId28"/>
    </p:embeddedFont>
    <p:embeddedFont>
      <p:font typeface="Nunito Sans Black"/>
      <p:bold r:id="rId29"/>
      <p:boldItalic r:id="rId30"/>
    </p:embeddedFont>
    <p:embeddedFont>
      <p:font typeface="Nunito Sans Medium"/>
      <p:regular r:id="rId31"/>
      <p:bold r:id="rId32"/>
      <p:italic r:id="rId33"/>
      <p:boldItalic r:id="rId34"/>
    </p:embeddedFont>
    <p:embeddedFont>
      <p:font typeface="Nunito Sans SemiBold"/>
      <p:regular r:id="rId35"/>
      <p:bold r:id="rId36"/>
      <p:italic r:id="rId37"/>
      <p:boldItalic r:id="rId38"/>
    </p:embeddedFont>
    <p:embeddedFont>
      <p:font typeface="Nunito Sans ExtraBold"/>
      <p:bold r:id="rId39"/>
      <p:boldItalic r:id="rId40"/>
    </p:embeddedFont>
    <p:embeddedFont>
      <p:font typeface="Lexend"/>
      <p:regular r:id="rId41"/>
      <p:bold r:id="rId42"/>
    </p:embeddedFont>
    <p:embeddedFont>
      <p:font typeface="Poppins SemiBold"/>
      <p:regular r:id="rId43"/>
      <p:bold r:id="rId44"/>
      <p:italic r:id="rId45"/>
      <p:boldItalic r:id="rId46"/>
    </p:embeddedFont>
    <p:embeddedFont>
      <p:font typeface="Nunito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6" Type="http://schemas.openxmlformats.org/officeDocument/2006/relationships/slide" Target="slides/slide1.xml"/><Relationship Id="rId24" Type="http://schemas.openxmlformats.org/officeDocument/2006/relationships/slide" Target="slides/slide17.xml"/><Relationship Id="rId25" Type="http://schemas.openxmlformats.org/officeDocument/2006/relationships/font" Target="fonts/Poppins-regular.fntdata"/><Relationship Id="rId26" Type="http://schemas.openxmlformats.org/officeDocument/2006/relationships/font" Target="fonts/Poppins-bold.fntdata"/><Relationship Id="rId27" Type="http://schemas.openxmlformats.org/officeDocument/2006/relationships/font" Target="fonts/Poppins-italic.fntdata"/><Relationship Id="rId28" Type="http://schemas.openxmlformats.org/officeDocument/2006/relationships/font" Target="fonts/Poppins-boldItalic.fntdata"/><Relationship Id="rId29" Type="http://schemas.openxmlformats.org/officeDocument/2006/relationships/font" Target="fonts/NunitoSansBlack-bold.fntdata"/><Relationship Id="rId30" Type="http://schemas.openxmlformats.org/officeDocument/2006/relationships/font" Target="fonts/NunitoSansBlack-boldItalic.fntdata"/><Relationship Id="rId31" Type="http://schemas.openxmlformats.org/officeDocument/2006/relationships/font" Target="fonts/NunitoSansMedium-regular.fntdata"/><Relationship Id="rId32" Type="http://schemas.openxmlformats.org/officeDocument/2006/relationships/font" Target="fonts/NunitoSansMedium-bold.fntdata"/><Relationship Id="rId33" Type="http://schemas.openxmlformats.org/officeDocument/2006/relationships/font" Target="fonts/NunitoSansMedium-italic.fntdata"/><Relationship Id="rId34" Type="http://schemas.openxmlformats.org/officeDocument/2006/relationships/font" Target="fonts/NunitoSansMedium-boldItalic.fntdata"/><Relationship Id="rId35" Type="http://schemas.openxmlformats.org/officeDocument/2006/relationships/font" Target="fonts/NunitoSansSemiBold-regular.fntdata"/><Relationship Id="rId36" Type="http://schemas.openxmlformats.org/officeDocument/2006/relationships/font" Target="fonts/NunitoSansSemiBold-bold.fntdata"/><Relationship Id="rId37" Type="http://schemas.openxmlformats.org/officeDocument/2006/relationships/font" Target="fonts/NunitoSansSemiBold-italic.fntdata"/><Relationship Id="rId38" Type="http://schemas.openxmlformats.org/officeDocument/2006/relationships/font" Target="fonts/NunitoSansSemiBold-boldItalic.fntdata"/><Relationship Id="rId39" Type="http://schemas.openxmlformats.org/officeDocument/2006/relationships/font" Target="fonts/NunitoSansExtraBold-bold.fntdata"/><Relationship Id="rId40" Type="http://schemas.openxmlformats.org/officeDocument/2006/relationships/font" Target="fonts/NunitoSansExtraBold-boldItalic.fntdata"/><Relationship Id="rId41" Type="http://schemas.openxmlformats.org/officeDocument/2006/relationships/font" Target="fonts/Lexend-regular.fntdata"/><Relationship Id="rId42" Type="http://schemas.openxmlformats.org/officeDocument/2006/relationships/font" Target="fonts/Lexend-bold.fntdata"/><Relationship Id="rId43" Type="http://schemas.openxmlformats.org/officeDocument/2006/relationships/font" Target="fonts/PoppinsSemiBold-regular.fntdata"/><Relationship Id="rId44" Type="http://schemas.openxmlformats.org/officeDocument/2006/relationships/font" Target="fonts/PoppinsSemiBold-bold.fntdata"/><Relationship Id="rId45" Type="http://schemas.openxmlformats.org/officeDocument/2006/relationships/font" Target="fonts/PoppinsSemiBold-italic.fntdata"/><Relationship Id="rId46" Type="http://schemas.openxmlformats.org/officeDocument/2006/relationships/font" Target="fonts/PoppinsSemiBold-boldItalic.fntdata"/><Relationship Id="rId47" Type="http://schemas.openxmlformats.org/officeDocument/2006/relationships/font" Target="fonts/NunitoSans-regular.fntdata"/><Relationship Id="rId48" Type="http://schemas.openxmlformats.org/officeDocument/2006/relationships/font" Target="fonts/NunitoSans-bold.fntdata"/><Relationship Id="rId49" Type="http://schemas.openxmlformats.org/officeDocument/2006/relationships/font" Target="fonts/NunitoSans-italic.fntdata"/><Relationship Id="rId50" Type="http://schemas.openxmlformats.org/officeDocument/2006/relationships/font" Target="fonts/NunitoSans-boldItalic.fntdata"/><Relationship Id="rId51" Type="http://schemas.openxmlformats.org/officeDocument/2006/relationships/slide" Target="slides/slide2.xml"/><Relationship Id="rId52" Type="http://schemas.openxmlformats.org/officeDocument/2006/relationships/slide" Target="slides/slide3.xml"/><Relationship Id="rId53" Type="http://schemas.openxmlformats.org/officeDocument/2006/relationships/slide" Target="slides/slide4.xml"/><Relationship Id="rId54" Type="http://schemas.openxmlformats.org/officeDocument/2006/relationships/slide" Target="slides/slide5.xml"/><Relationship Id="rId55" Type="http://schemas.openxmlformats.org/officeDocument/2006/relationships/slide" Target="slides/slide6.xml"/><Relationship Id="rId56" Type="http://schemas.openxmlformats.org/officeDocument/2006/relationships/slide" Target="slides/slide7.xml"/><Relationship Id="rId57" Type="http://schemas.openxmlformats.org/officeDocument/2006/relationships/slide" Target="slides/slide8.xml"/><Relationship Id="rId58" Type="http://schemas.openxmlformats.org/officeDocument/2006/relationships/slide" Target="slides/slide9.xml"/><Relationship Id="rId59" Type="http://schemas.openxmlformats.org/officeDocument/2006/relationships/slide" Target="slides/slide10.xml"/><Relationship Id="rId60" Type="http://schemas.openxmlformats.org/officeDocument/2006/relationships/slide" Target="slides/slide11.xml"/><Relationship Id="rId61" Type="http://schemas.openxmlformats.org/officeDocument/2006/relationships/slide" Target="slides/slide12.xml"/><Relationship Id="rId62" Type="http://schemas.openxmlformats.org/officeDocument/2006/relationships/slide" Target="slides/slide13.xml"/><Relationship Id="rId63" Type="http://schemas.openxmlformats.org/officeDocument/2006/relationships/slide" Target="slides/slide14.xml"/><Relationship Id="rId64" Type="http://schemas.openxmlformats.org/officeDocument/2006/relationships/slide" Target="slides/slide15.xml"/><Relationship Id="rId65"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Requerimientos funcionales</c:v>
                </c:pt>
              </c:strCache>
            </c:strRef>
          </c:tx>
          <c:spPr>
            <a:solidFill>
              <a:srgbClr val="014AA0"/>
            </a:solidFill>
          </c:spPr>
          <c:cat>
            <c:strRef>
              <c:f>Sheet1!$A$2:$A$7</c:f>
              <c:strCache>
                <c:ptCount val="6"/>
                <c:pt idx="0">
                  <c:v>Inventario</c:v>
                </c:pt>
                <c:pt idx="1">
                  <c:v>Pedidos y proveedores</c:v>
                </c:pt>
                <c:pt idx="2">
                  <c:v>Cuentas por cobrar</c:v>
                </c:pt>
                <c:pt idx="3">
                  <c:v>Ventas</c:v>
                </c:pt>
                <c:pt idx="4">
                  <c:v>Reportes</c:v>
                </c:pt>
                <c:pt idx="5">
                  <c:v>Usuarios</c:v>
                </c:pt>
              </c:strCache>
            </c:strRef>
          </c:cat>
          <c:val>
            <c:numRef>
              <c:f>Sheet1!$B$2:$B$7</c:f>
              <c:numCache>
                <c:formatCode>General</c:formatCode>
                <c:ptCount val="6"/>
                <c:pt idx="0">
                  <c:v>4</c:v>
                </c:pt>
                <c:pt idx="1">
                  <c:v>4</c:v>
                </c:pt>
                <c:pt idx="2">
                  <c:v>2</c:v>
                </c:pt>
                <c:pt idx="3">
                  <c:v>1</c:v>
                </c:pt>
                <c:pt idx="4">
                  <c:v>1</c:v>
                </c:pt>
                <c:pt idx="5">
                  <c:v>1</c:v>
                </c:pt>
              </c:numCache>
            </c:numRef>
          </c:val>
        </c:ser>
        <c:dLbls>
          <c:txPr>
            <a:bodyPr/>
            <a:lstStyle/>
            <a:p>
              <a:pPr>
                <a:defRPr sz="1300" b="1">
                  <a:solidFill>
                    <a:srgbClr val="2B2B2B"/>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latin typeface="Arial"/>
              </a:defRPr>
            </a:pPr>
          </a:p>
        </c:txPr>
        <c:crossAx val="-2113994440"/>
        <c:crosses val="autoZero"/>
        <c:auto val="1"/>
        <c:lblAlgn val="ctr"/>
        <c:lblOffset val="100"/>
        <c:noMultiLvlLbl val="0"/>
      </c:catAx>
      <c:valAx>
        <c:axId val="-2113994440"/>
        <c:scaling>
          <c:max val="5.0"/>
          <c:min val="0.0"/>
        </c:scaling>
        <c:delete/>
        <c:axPos val="b"/>
        <c:majorTickMark val="out"/>
        <c:minorTickMark val="none"/>
        <c:tickLblPos val="nextTo"/>
        <c:crossAx val="-2068027336"/>
        <c:crosses val="autoZero"/>
      </c:valAx>
    </c:plotArea>
    <c:dispBlanksAs val="gap"/>
  </c:chart>
  <c:txPr>
    <a:bodyPr/>
    <a:lstStyle/>
    <a:p>
      <a:pPr>
        <a:defRPr sz="1200">
          <a:solidFill>
            <a:srgbClr val="2B2B2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64641ed81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64641ed8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Presentación del equipo consultor y del proyecto. Somos un equipo consultor que analizó Carnicería La Feria, un negocio familiar de La Aurora de Heredia, para proponer un sistema de información. Esta es la Fase 1: análisis.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objetivo es proponer el análisis y el diseño conceptual. Respetamos el alcance del enunciado: analizamos, documentamos, diseñamos y proponemos; no programamos ni implementamos base de datos ni despliegue.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Negocio familiar con más de 30 años en La Aurora de Heredia, administrado por doña Mirna y don Elio, con una colaboradora de medio tiempo. Sector comercio minorista de alimentos. El uso de sistemas es bajo: por eso la oportunidad.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Usamos la cadena de valor de Porter. Las cinco actividades primarias van desde el pedido al proveedor hasta el cobro de cuentas. De las de apoyo, tecnología es la más débil hoy: WhatsApp, llamadas y cuaderno.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problema central es la falta de registros. Cada proceso depende de la memoria o de herramientas informales. Esto puede generar faltantes, producto que no rota y deudas olvidadas.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se vende hoy. Quien atiende prepara y pesa el corte, indica el precio y pregunta si es a crédito. Si es de contado se cobra en caja sin guardar detalle; si es a crédito, se consulta si es cliente de confianza y se anota en el cuaderno o de memoria.</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el sistema, el cajero registra la venta. Si es a crédito, el sistema la asocia al cliente y suma su saldo; en ambos casos descuenta el producto del inventario. Las actividades en verde son las que ejecuta el sistema.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sistema alerta cuando un producto llega al mínimo. El encargado registra el pedido y lo envía por WhatsApp. Al llegar la mercadería se registra la recepción; el sistema compara lo pedido contra lo recibido, marca diferencias o atrasos y suma lo recibido al inventario. Esto da respaldo para reclamar y evaluar a los proveedores.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solución es un sistema sencillo con cinco módulos que conectan las ventas con el inventario, los pedidos con las recepciones y las ventas a crédito con las cuentas por cobrar. Se puede usar desde computadora o celular, si el negocio tiene el equipo y la conexión, y cada persona accede según su rol.</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Identificamos siete actores. Los dueños son los únicos con influencia alta; el personal de mostrador y quien compra son quienes más usarán el sistema. Entre los externos están los clientes con crédito, los proveedores y las entidades reguladoras.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Levantamos 13 requerimientos funcionales, distribuidos en los cinco módulos, y 7 no funcionales: usabilidad, seguridad, disponibilidad, respaldo, portabilidad, rendimiento y cumplimiento legal. Diez de los trece funcionales son de prioridad alta.</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diagrama UML tiene tres actores: dueño, encargado de compras y cajero. El dueño hereda las funciones de los otros dos. Son doce casos de uso y todos incluyen iniciar sesión, por eso el acceso depende del rol.</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Redactamos 14 historias de usuario, 9 del dueño, 3 del encargado de compras y 2 del cajero, con sus criterios de aceptación. Mostramos dos ejemplos: registrar una venta y registrar un abono. La matriz de trazabilidad relaciona cada requerimiento funcional con las historias que lo cubren.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Identificamos siete riesgos. Los más probables son los datos iniciales incompletos —inventario y cuentas del cuaderno—. Los de mayor impacto son la resistencia del personal, las fallas de internet o equipo y la fuga de datos de clientes. Cada riesgo tiene su mitigación; los cambios en requerimientos se gestionan con RFC.</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Conclusión: los problemas nacen del control manual y el sistema propuesto los atiende con cinco módulos conectados. Recomendamos validar todo con los dueños y confirmar los datos pendientes, como permisos vigentes, factura electrónica, competidores y equipo disponible. En la Fase 2 partimos de estos requerimientos para estimar, planificar y diseñar.</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Como evidencia entregamos el repositorio Git, el tablero Kanban y las bitácoras como apéndice. Las tareas se repartieron entre los cuatro integrantes según la Bitácora N.º 1, y el equipo completo participó en la entrevista y en la integración. (Mostrar aquí el repositorio y el tablero reales si el profesor los solicita.)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d64641ed81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d64641ed81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rgbClr val="E6E9F5"/>
        </a:solidFill>
      </p:bgPr>
    </p:bg>
    <p:spTree>
      <p:nvGrpSpPr>
        <p:cNvPr id="50" name="Shape 50"/>
        <p:cNvGrpSpPr/>
        <p:nvPr/>
      </p:nvGrpSpPr>
      <p:grpSpPr>
        <a:xfrm>
          <a:off x="0" y="0"/>
          <a:ext cx="0" cy="0"/>
          <a:chOff x="0" y="0"/>
          <a:chExt cx="0" cy="0"/>
        </a:xfrm>
      </p:grpSpPr>
      <p:sp>
        <p:nvSpPr>
          <p:cNvPr id="51" name="Google Shape;51;p13"/>
          <p:cNvSpPr/>
          <p:nvPr/>
        </p:nvSpPr>
        <p:spPr>
          <a:xfrm>
            <a:off x="0" y="0"/>
            <a:ext cx="994200" cy="6858000"/>
          </a:xfrm>
          <a:prstGeom prst="roundRect">
            <a:avLst>
              <a:gd fmla="val 0" name="adj"/>
            </a:avLst>
          </a:prstGeom>
          <a:solidFill>
            <a:srgbClr val="F3CA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2" name="Shape 52"/>
        <p:cNvGrpSpPr/>
        <p:nvPr/>
      </p:nvGrpSpPr>
      <p:grpSpPr>
        <a:xfrm>
          <a:off x="0" y="0"/>
          <a:ext cx="0" cy="0"/>
          <a:chOff x="0" y="0"/>
          <a:chExt cx="0" cy="0"/>
        </a:xfrm>
      </p:grpSpPr>
      <p:sp>
        <p:nvSpPr>
          <p:cNvPr id="53" name="Google Shape;53;p14"/>
          <p:cNvSpPr/>
          <p:nvPr>
            <p:ph idx="2" type="pic"/>
          </p:nvPr>
        </p:nvSpPr>
        <p:spPr>
          <a:xfrm>
            <a:off x="1741714" y="3991429"/>
            <a:ext cx="8708700" cy="2866500"/>
          </a:xfrm>
          <a:prstGeom prst="roundRect">
            <a:avLst>
              <a:gd fmla="val 0" name="adj"/>
            </a:avLst>
          </a:prstGeom>
          <a:solidFill>
            <a:schemeClr val="lt1"/>
          </a:solidFill>
          <a:ln>
            <a:noFill/>
          </a:ln>
        </p:spPr>
      </p:sp>
      <p:sp>
        <p:nvSpPr>
          <p:cNvPr id="54" name="Google Shape;54;p14"/>
          <p:cNvSpPr/>
          <p:nvPr/>
        </p:nvSpPr>
        <p:spPr>
          <a:xfrm>
            <a:off x="0" y="0"/>
            <a:ext cx="12192000" cy="39915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 name="Google Shape;55;p14"/>
          <p:cNvSpPr/>
          <p:nvPr/>
        </p:nvSpPr>
        <p:spPr>
          <a:xfrm>
            <a:off x="0" y="0"/>
            <a:ext cx="987000" cy="987000"/>
          </a:xfrm>
          <a:prstGeom prst="roundRect">
            <a:avLst>
              <a:gd fmla="val 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Slide">
  <p:cSld name="10_Title Slide">
    <p:spTree>
      <p:nvGrpSpPr>
        <p:cNvPr id="56" name="Shape 56"/>
        <p:cNvGrpSpPr/>
        <p:nvPr/>
      </p:nvGrpSpPr>
      <p:grpSpPr>
        <a:xfrm>
          <a:off x="0" y="0"/>
          <a:ext cx="0" cy="0"/>
          <a:chOff x="0" y="0"/>
          <a:chExt cx="0" cy="0"/>
        </a:xfrm>
      </p:grpSpPr>
      <p:sp>
        <p:nvSpPr>
          <p:cNvPr id="57" name="Google Shape;57;p15"/>
          <p:cNvSpPr/>
          <p:nvPr>
            <p:ph idx="2" type="pic"/>
          </p:nvPr>
        </p:nvSpPr>
        <p:spPr>
          <a:xfrm>
            <a:off x="4904225" y="396912"/>
            <a:ext cx="3314700" cy="2095500"/>
          </a:xfrm>
          <a:prstGeom prst="roundRect">
            <a:avLst>
              <a:gd fmla="val 0" name="adj"/>
            </a:avLst>
          </a:prstGeom>
          <a:solidFill>
            <a:schemeClr val="lt1"/>
          </a:solidFill>
          <a:ln>
            <a:noFill/>
          </a:ln>
        </p:spPr>
      </p:sp>
      <p:sp>
        <p:nvSpPr>
          <p:cNvPr id="58" name="Google Shape;58;p15"/>
          <p:cNvSpPr/>
          <p:nvPr>
            <p:ph idx="3" type="pic"/>
          </p:nvPr>
        </p:nvSpPr>
        <p:spPr>
          <a:xfrm>
            <a:off x="4904225" y="3578262"/>
            <a:ext cx="3314700" cy="2095500"/>
          </a:xfrm>
          <a:prstGeom prst="roundRect">
            <a:avLst>
              <a:gd fmla="val 0" name="adj"/>
            </a:avLst>
          </a:prstGeom>
          <a:solidFill>
            <a:schemeClr val="lt1"/>
          </a:solidFill>
          <a:ln>
            <a:noFill/>
          </a:ln>
        </p:spPr>
      </p:sp>
      <p:sp>
        <p:nvSpPr>
          <p:cNvPr id="59" name="Google Shape;59;p15"/>
          <p:cNvSpPr/>
          <p:nvPr>
            <p:ph idx="4" type="pic"/>
          </p:nvPr>
        </p:nvSpPr>
        <p:spPr>
          <a:xfrm>
            <a:off x="8504675" y="396912"/>
            <a:ext cx="3314700" cy="2095500"/>
          </a:xfrm>
          <a:prstGeom prst="roundRect">
            <a:avLst>
              <a:gd fmla="val 0" name="adj"/>
            </a:avLst>
          </a:prstGeom>
          <a:solidFill>
            <a:schemeClr val="lt1"/>
          </a:solidFill>
          <a:ln>
            <a:noFill/>
          </a:ln>
        </p:spPr>
      </p:sp>
      <p:sp>
        <p:nvSpPr>
          <p:cNvPr id="60" name="Google Shape;60;p15"/>
          <p:cNvSpPr/>
          <p:nvPr>
            <p:ph idx="5" type="pic"/>
          </p:nvPr>
        </p:nvSpPr>
        <p:spPr>
          <a:xfrm>
            <a:off x="8504675" y="3578262"/>
            <a:ext cx="3314700" cy="2095500"/>
          </a:xfrm>
          <a:prstGeom prst="roundRect">
            <a:avLst>
              <a:gd fmla="val 0" name="adj"/>
            </a:avLst>
          </a:prstGeom>
          <a:solidFill>
            <a:schemeClr val="lt1"/>
          </a:solidFill>
          <a:ln>
            <a:noFill/>
          </a:ln>
        </p:spPr>
      </p:sp>
      <p:sp>
        <p:nvSpPr>
          <p:cNvPr id="61" name="Google Shape;61;p15"/>
          <p:cNvSpPr/>
          <p:nvPr/>
        </p:nvSpPr>
        <p:spPr>
          <a:xfrm>
            <a:off x="8504676" y="5654712"/>
            <a:ext cx="3314700" cy="8955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 name="Google Shape;62;p15"/>
          <p:cNvSpPr/>
          <p:nvPr/>
        </p:nvSpPr>
        <p:spPr>
          <a:xfrm>
            <a:off x="4904225" y="5654712"/>
            <a:ext cx="3314700" cy="8955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 name="Google Shape;63;p15"/>
          <p:cNvSpPr/>
          <p:nvPr/>
        </p:nvSpPr>
        <p:spPr>
          <a:xfrm>
            <a:off x="4904225" y="2482887"/>
            <a:ext cx="3314700" cy="8955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 name="Google Shape;64;p15"/>
          <p:cNvSpPr/>
          <p:nvPr/>
        </p:nvSpPr>
        <p:spPr>
          <a:xfrm>
            <a:off x="8504675" y="2482887"/>
            <a:ext cx="3314700" cy="8955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65" name="Shape 65"/>
        <p:cNvGrpSpPr/>
        <p:nvPr/>
      </p:nvGrpSpPr>
      <p:grpSpPr>
        <a:xfrm>
          <a:off x="0" y="0"/>
          <a:ext cx="0" cy="0"/>
          <a:chOff x="0" y="0"/>
          <a:chExt cx="0" cy="0"/>
        </a:xfrm>
      </p:grpSpPr>
      <p:sp>
        <p:nvSpPr>
          <p:cNvPr id="66" name="Google Shape;66;p16"/>
          <p:cNvSpPr/>
          <p:nvPr>
            <p:ph idx="2" type="pic"/>
          </p:nvPr>
        </p:nvSpPr>
        <p:spPr>
          <a:xfrm>
            <a:off x="5886450" y="0"/>
            <a:ext cx="6305700" cy="3390900"/>
          </a:xfrm>
          <a:prstGeom prst="roundRect">
            <a:avLst>
              <a:gd fmla="val 0" name="adj"/>
            </a:avLst>
          </a:prstGeom>
          <a:solidFill>
            <a:schemeClr val="lt1"/>
          </a:solidFill>
          <a:ln>
            <a:noFill/>
          </a:ln>
        </p:spPr>
      </p:sp>
      <p:sp>
        <p:nvSpPr>
          <p:cNvPr id="67" name="Google Shape;67;p16"/>
          <p:cNvSpPr/>
          <p:nvPr/>
        </p:nvSpPr>
        <p:spPr>
          <a:xfrm>
            <a:off x="5886450" y="3390900"/>
            <a:ext cx="6305700" cy="34671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68" name="Shape 68"/>
        <p:cNvGrpSpPr/>
        <p:nvPr/>
      </p:nvGrpSpPr>
      <p:grpSpPr>
        <a:xfrm>
          <a:off x="0" y="0"/>
          <a:ext cx="0" cy="0"/>
          <a:chOff x="0" y="0"/>
          <a:chExt cx="0" cy="0"/>
        </a:xfrm>
      </p:grpSpPr>
      <p:sp>
        <p:nvSpPr>
          <p:cNvPr id="69" name="Google Shape;69;p17"/>
          <p:cNvSpPr/>
          <p:nvPr/>
        </p:nvSpPr>
        <p:spPr>
          <a:xfrm>
            <a:off x="0" y="0"/>
            <a:ext cx="5362200" cy="68580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 name="Google Shape;70;p17"/>
          <p:cNvSpPr/>
          <p:nvPr>
            <p:ph idx="2" type="pic"/>
          </p:nvPr>
        </p:nvSpPr>
        <p:spPr>
          <a:xfrm>
            <a:off x="571500" y="971550"/>
            <a:ext cx="4790700" cy="4910400"/>
          </a:xfrm>
          <a:prstGeom prst="roundRect">
            <a:avLst>
              <a:gd fmla="val 0" name="adj"/>
            </a:avLst>
          </a:prstGeom>
          <a:solidFill>
            <a:schemeClr val="lt1"/>
          </a:solidFill>
          <a:ln>
            <a:noFill/>
          </a:ln>
        </p:spPr>
      </p:sp>
      <p:sp>
        <p:nvSpPr>
          <p:cNvPr id="71" name="Google Shape;71;p17"/>
          <p:cNvSpPr/>
          <p:nvPr/>
        </p:nvSpPr>
        <p:spPr>
          <a:xfrm>
            <a:off x="5362122" y="971550"/>
            <a:ext cx="981600" cy="58866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72" name="Shape 72"/>
        <p:cNvGrpSpPr/>
        <p:nvPr/>
      </p:nvGrpSpPr>
      <p:grpSpPr>
        <a:xfrm>
          <a:off x="0" y="0"/>
          <a:ext cx="0" cy="0"/>
          <a:chOff x="0" y="0"/>
          <a:chExt cx="0" cy="0"/>
        </a:xfrm>
      </p:grpSpPr>
      <p:sp>
        <p:nvSpPr>
          <p:cNvPr id="73" name="Google Shape;73;p18"/>
          <p:cNvSpPr/>
          <p:nvPr>
            <p:ph idx="2" type="pic"/>
          </p:nvPr>
        </p:nvSpPr>
        <p:spPr>
          <a:xfrm>
            <a:off x="0" y="3695700"/>
            <a:ext cx="4476900" cy="3162300"/>
          </a:xfrm>
          <a:prstGeom prst="roundRect">
            <a:avLst>
              <a:gd fmla="val 0" name="adj"/>
            </a:avLst>
          </a:prstGeom>
          <a:solidFill>
            <a:schemeClr val="lt1"/>
          </a:solidFill>
          <a:ln>
            <a:noFill/>
          </a:ln>
        </p:spPr>
      </p:sp>
      <p:sp>
        <p:nvSpPr>
          <p:cNvPr id="74" name="Google Shape;74;p18"/>
          <p:cNvSpPr/>
          <p:nvPr>
            <p:ph idx="3" type="pic"/>
          </p:nvPr>
        </p:nvSpPr>
        <p:spPr>
          <a:xfrm>
            <a:off x="4476750" y="3695700"/>
            <a:ext cx="7715400" cy="3162300"/>
          </a:xfrm>
          <a:prstGeom prst="roundRect">
            <a:avLst>
              <a:gd fmla="val 0" name="adj"/>
            </a:avLst>
          </a:prstGeom>
          <a:solidFill>
            <a:schemeClr val="lt1"/>
          </a:solidFill>
          <a:ln>
            <a:noFill/>
          </a:ln>
        </p:spPr>
      </p:sp>
      <p:sp>
        <p:nvSpPr>
          <p:cNvPr id="75" name="Google Shape;75;p18"/>
          <p:cNvSpPr/>
          <p:nvPr/>
        </p:nvSpPr>
        <p:spPr>
          <a:xfrm>
            <a:off x="0" y="0"/>
            <a:ext cx="4476900" cy="36957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Slide">
  <p:cSld name="8_Title Slide">
    <p:spTree>
      <p:nvGrpSpPr>
        <p:cNvPr id="76" name="Shape 76"/>
        <p:cNvGrpSpPr/>
        <p:nvPr/>
      </p:nvGrpSpPr>
      <p:grpSpPr>
        <a:xfrm>
          <a:off x="0" y="0"/>
          <a:ext cx="0" cy="0"/>
          <a:chOff x="0" y="0"/>
          <a:chExt cx="0" cy="0"/>
        </a:xfrm>
      </p:grpSpPr>
      <p:sp>
        <p:nvSpPr>
          <p:cNvPr id="77" name="Google Shape;77;p19"/>
          <p:cNvSpPr/>
          <p:nvPr>
            <p:ph idx="2" type="pic"/>
          </p:nvPr>
        </p:nvSpPr>
        <p:spPr>
          <a:xfrm>
            <a:off x="6438900" y="521607"/>
            <a:ext cx="5167200" cy="5802900"/>
          </a:xfrm>
          <a:prstGeom prst="roundRect">
            <a:avLst>
              <a:gd fmla="val 0" name="adj"/>
            </a:avLst>
          </a:prstGeom>
          <a:solidFill>
            <a:schemeClr val="lt1"/>
          </a:solidFill>
          <a:ln>
            <a:noFill/>
          </a:ln>
        </p:spPr>
      </p:sp>
      <p:sp>
        <p:nvSpPr>
          <p:cNvPr id="78" name="Google Shape;78;p19"/>
          <p:cNvSpPr/>
          <p:nvPr/>
        </p:nvSpPr>
        <p:spPr>
          <a:xfrm>
            <a:off x="6438900" y="5276850"/>
            <a:ext cx="1048800" cy="10479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 name="Google Shape;79;p19"/>
          <p:cNvSpPr/>
          <p:nvPr/>
        </p:nvSpPr>
        <p:spPr>
          <a:xfrm>
            <a:off x="5390233" y="5276850"/>
            <a:ext cx="1048800" cy="1047900"/>
          </a:xfrm>
          <a:prstGeom prst="roundRect">
            <a:avLst>
              <a:gd fmla="val 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p:cSld name="13_Title Slide">
    <p:spTree>
      <p:nvGrpSpPr>
        <p:cNvPr id="80" name="Shape 80"/>
        <p:cNvGrpSpPr/>
        <p:nvPr/>
      </p:nvGrpSpPr>
      <p:grpSpPr>
        <a:xfrm>
          <a:off x="0" y="0"/>
          <a:ext cx="0" cy="0"/>
          <a:chOff x="0" y="0"/>
          <a:chExt cx="0" cy="0"/>
        </a:xfrm>
      </p:grpSpPr>
      <p:sp>
        <p:nvSpPr>
          <p:cNvPr id="81" name="Google Shape;81;p20"/>
          <p:cNvSpPr/>
          <p:nvPr>
            <p:ph idx="2" type="pic"/>
          </p:nvPr>
        </p:nvSpPr>
        <p:spPr>
          <a:xfrm>
            <a:off x="1733550" y="2076450"/>
            <a:ext cx="3009900" cy="3040800"/>
          </a:xfrm>
          <a:prstGeom prst="roundRect">
            <a:avLst>
              <a:gd fmla="val 0" name="adj"/>
            </a:avLst>
          </a:prstGeom>
          <a:solidFill>
            <a:schemeClr val="lt1"/>
          </a:solidFill>
          <a:ln>
            <a:noFill/>
          </a:ln>
        </p:spPr>
      </p:sp>
      <p:sp>
        <p:nvSpPr>
          <p:cNvPr id="82" name="Google Shape;82;p20"/>
          <p:cNvSpPr/>
          <p:nvPr>
            <p:ph idx="3" type="pic"/>
          </p:nvPr>
        </p:nvSpPr>
        <p:spPr>
          <a:xfrm>
            <a:off x="4743302" y="2076450"/>
            <a:ext cx="3009900" cy="3040800"/>
          </a:xfrm>
          <a:prstGeom prst="roundRect">
            <a:avLst>
              <a:gd fmla="val 0" name="adj"/>
            </a:avLst>
          </a:prstGeom>
          <a:solidFill>
            <a:schemeClr val="lt1"/>
          </a:solidFill>
          <a:ln>
            <a:noFill/>
          </a:ln>
        </p:spPr>
      </p:sp>
      <p:sp>
        <p:nvSpPr>
          <p:cNvPr id="83" name="Google Shape;83;p20"/>
          <p:cNvSpPr/>
          <p:nvPr>
            <p:ph idx="4" type="pic"/>
          </p:nvPr>
        </p:nvSpPr>
        <p:spPr>
          <a:xfrm>
            <a:off x="7753054" y="2076450"/>
            <a:ext cx="3009900" cy="3040800"/>
          </a:xfrm>
          <a:prstGeom prst="roundRect">
            <a:avLst>
              <a:gd fmla="val 0" name="adj"/>
            </a:avLst>
          </a:prstGeom>
          <a:solidFill>
            <a:schemeClr val="lt1"/>
          </a:solidFill>
          <a:ln>
            <a:noFill/>
          </a:ln>
        </p:spPr>
      </p:sp>
      <p:sp>
        <p:nvSpPr>
          <p:cNvPr id="84" name="Google Shape;84;p20"/>
          <p:cNvSpPr/>
          <p:nvPr/>
        </p:nvSpPr>
        <p:spPr>
          <a:xfrm>
            <a:off x="0" y="0"/>
            <a:ext cx="1733700" cy="20766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20"/>
          <p:cNvSpPr/>
          <p:nvPr/>
        </p:nvSpPr>
        <p:spPr>
          <a:xfrm>
            <a:off x="10762806" y="5117152"/>
            <a:ext cx="1429200" cy="17409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Slide">
  <p:cSld name="16_Title Slide">
    <p:spTree>
      <p:nvGrpSpPr>
        <p:cNvPr id="86" name="Shape 86"/>
        <p:cNvGrpSpPr/>
        <p:nvPr/>
      </p:nvGrpSpPr>
      <p:grpSpPr>
        <a:xfrm>
          <a:off x="0" y="0"/>
          <a:ext cx="0" cy="0"/>
          <a:chOff x="0" y="0"/>
          <a:chExt cx="0" cy="0"/>
        </a:xfrm>
      </p:grpSpPr>
      <p:sp>
        <p:nvSpPr>
          <p:cNvPr id="87" name="Google Shape;87;p21"/>
          <p:cNvSpPr/>
          <p:nvPr>
            <p:ph idx="2" type="pic"/>
          </p:nvPr>
        </p:nvSpPr>
        <p:spPr>
          <a:xfrm>
            <a:off x="6962660" y="0"/>
            <a:ext cx="5229300" cy="2502000"/>
          </a:xfrm>
          <a:prstGeom prst="roundRect">
            <a:avLst>
              <a:gd fmla="val 0" name="adj"/>
            </a:avLst>
          </a:prstGeom>
          <a:solidFill>
            <a:schemeClr val="lt1"/>
          </a:solidFill>
          <a:ln>
            <a:noFill/>
          </a:ln>
        </p:spPr>
      </p:sp>
      <p:sp>
        <p:nvSpPr>
          <p:cNvPr id="88" name="Google Shape;88;p21"/>
          <p:cNvSpPr/>
          <p:nvPr>
            <p:ph idx="3" type="pic"/>
          </p:nvPr>
        </p:nvSpPr>
        <p:spPr>
          <a:xfrm>
            <a:off x="6962660" y="2692400"/>
            <a:ext cx="5229300" cy="4165500"/>
          </a:xfrm>
          <a:prstGeom prst="roundRect">
            <a:avLst>
              <a:gd fmla="val 0" name="adj"/>
            </a:avLst>
          </a:prstGeom>
          <a:solidFill>
            <a:schemeClr val="lt1"/>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Slide">
  <p:cSld name="17_Title Slide">
    <p:spTree>
      <p:nvGrpSpPr>
        <p:cNvPr id="89" name="Shape 89"/>
        <p:cNvGrpSpPr/>
        <p:nvPr/>
      </p:nvGrpSpPr>
      <p:grpSpPr>
        <a:xfrm>
          <a:off x="0" y="0"/>
          <a:ext cx="0" cy="0"/>
          <a:chOff x="0" y="0"/>
          <a:chExt cx="0" cy="0"/>
        </a:xfrm>
      </p:grpSpPr>
      <p:sp>
        <p:nvSpPr>
          <p:cNvPr id="90" name="Google Shape;90;p22"/>
          <p:cNvSpPr/>
          <p:nvPr>
            <p:ph idx="2" type="pic"/>
          </p:nvPr>
        </p:nvSpPr>
        <p:spPr>
          <a:xfrm>
            <a:off x="1131320" y="896255"/>
            <a:ext cx="3967500" cy="4045200"/>
          </a:xfrm>
          <a:prstGeom prst="roundRect">
            <a:avLst>
              <a:gd fmla="val 0" name="adj"/>
            </a:avLst>
          </a:prstGeom>
          <a:solidFill>
            <a:schemeClr val="lt1"/>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Slide">
  <p:cSld name="22_Title Slide">
    <p:spTree>
      <p:nvGrpSpPr>
        <p:cNvPr id="91" name="Shape 91"/>
        <p:cNvGrpSpPr/>
        <p:nvPr/>
      </p:nvGrpSpPr>
      <p:grpSpPr>
        <a:xfrm>
          <a:off x="0" y="0"/>
          <a:ext cx="0" cy="0"/>
          <a:chOff x="0" y="0"/>
          <a:chExt cx="0" cy="0"/>
        </a:xfrm>
      </p:grpSpPr>
      <p:sp>
        <p:nvSpPr>
          <p:cNvPr id="92" name="Google Shape;92;p23"/>
          <p:cNvSpPr/>
          <p:nvPr/>
        </p:nvSpPr>
        <p:spPr>
          <a:xfrm>
            <a:off x="5123544" y="4085771"/>
            <a:ext cx="7068600" cy="23376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23"/>
          <p:cNvSpPr/>
          <p:nvPr/>
        </p:nvSpPr>
        <p:spPr>
          <a:xfrm>
            <a:off x="0" y="0"/>
            <a:ext cx="3831900" cy="68580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23"/>
          <p:cNvSpPr/>
          <p:nvPr>
            <p:ph idx="2" type="pic"/>
          </p:nvPr>
        </p:nvSpPr>
        <p:spPr>
          <a:xfrm>
            <a:off x="564244" y="434521"/>
            <a:ext cx="4559400" cy="5988900"/>
          </a:xfrm>
          <a:prstGeom prst="roundRect">
            <a:avLst>
              <a:gd fmla="val 0" name="adj"/>
            </a:avLst>
          </a:prstGeom>
          <a:solidFill>
            <a:schemeClr val="lt1"/>
          </a:solidFill>
          <a:ln>
            <a:noFill/>
          </a:ln>
        </p:spPr>
      </p:sp>
      <p:sp>
        <p:nvSpPr>
          <p:cNvPr id="95" name="Google Shape;95;p23"/>
          <p:cNvSpPr/>
          <p:nvPr>
            <p:ph idx="3" type="pic"/>
          </p:nvPr>
        </p:nvSpPr>
        <p:spPr>
          <a:xfrm>
            <a:off x="5123544" y="434522"/>
            <a:ext cx="2134500" cy="3651300"/>
          </a:xfrm>
          <a:prstGeom prst="roundRect">
            <a:avLst>
              <a:gd fmla="val 0" name="adj"/>
            </a:avLst>
          </a:prstGeom>
          <a:solidFill>
            <a:schemeClr val="lt1"/>
          </a:solidFill>
          <a:ln>
            <a:noFill/>
          </a:ln>
        </p:spPr>
      </p:sp>
      <p:sp>
        <p:nvSpPr>
          <p:cNvPr id="96" name="Google Shape;96;p23"/>
          <p:cNvSpPr/>
          <p:nvPr>
            <p:ph idx="4" type="pic"/>
          </p:nvPr>
        </p:nvSpPr>
        <p:spPr>
          <a:xfrm>
            <a:off x="5123544" y="4085771"/>
            <a:ext cx="2134500" cy="2337600"/>
          </a:xfrm>
          <a:prstGeom prst="roundRect">
            <a:avLst>
              <a:gd fmla="val 0" name="adj"/>
            </a:avLst>
          </a:prstGeom>
          <a:solidFill>
            <a:schemeClr val="lt1"/>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Slide">
  <p:cSld name="26_Title Slide">
    <p:spTree>
      <p:nvGrpSpPr>
        <p:cNvPr id="97" name="Shape 97"/>
        <p:cNvGrpSpPr/>
        <p:nvPr/>
      </p:nvGrpSpPr>
      <p:grpSpPr>
        <a:xfrm>
          <a:off x="0" y="0"/>
          <a:ext cx="0" cy="0"/>
          <a:chOff x="0" y="0"/>
          <a:chExt cx="0" cy="0"/>
        </a:xfrm>
      </p:grpSpPr>
      <p:sp>
        <p:nvSpPr>
          <p:cNvPr id="98" name="Google Shape;98;p24"/>
          <p:cNvSpPr/>
          <p:nvPr>
            <p:ph idx="2" type="pic"/>
          </p:nvPr>
        </p:nvSpPr>
        <p:spPr>
          <a:xfrm>
            <a:off x="1187482" y="2119086"/>
            <a:ext cx="4048500" cy="2531700"/>
          </a:xfrm>
          <a:prstGeom prst="rect">
            <a:avLst/>
          </a:prstGeom>
          <a:solidFill>
            <a:schemeClr val="lt1"/>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Slide">
  <p:cSld name="27_Title Slide">
    <p:spTree>
      <p:nvGrpSpPr>
        <p:cNvPr id="99" name="Shape 99"/>
        <p:cNvGrpSpPr/>
        <p:nvPr/>
      </p:nvGrpSpPr>
      <p:grpSpPr>
        <a:xfrm>
          <a:off x="0" y="0"/>
          <a:ext cx="0" cy="0"/>
          <a:chOff x="0" y="0"/>
          <a:chExt cx="0" cy="0"/>
        </a:xfrm>
      </p:grpSpPr>
      <p:sp>
        <p:nvSpPr>
          <p:cNvPr id="100" name="Google Shape;100;p25"/>
          <p:cNvSpPr/>
          <p:nvPr/>
        </p:nvSpPr>
        <p:spPr>
          <a:xfrm>
            <a:off x="7282543" y="3581400"/>
            <a:ext cx="4909500" cy="3276600"/>
          </a:xfrm>
          <a:prstGeom prst="roundRect">
            <a:avLst>
              <a:gd fmla="val 0" name="adj"/>
            </a:avLst>
          </a:prstGeom>
          <a:solidFill>
            <a:srgbClr val="4A2A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 name="Google Shape;101;p25"/>
          <p:cNvSpPr/>
          <p:nvPr>
            <p:ph idx="2" type="pic"/>
          </p:nvPr>
        </p:nvSpPr>
        <p:spPr>
          <a:xfrm>
            <a:off x="7282543" y="1204686"/>
            <a:ext cx="2888400" cy="4268700"/>
          </a:xfrm>
          <a:prstGeom prst="roundRect">
            <a:avLst>
              <a:gd fmla="val 3531" name="adj"/>
            </a:avLst>
          </a:prstGeom>
          <a:solidFill>
            <a:schemeClr val="lt1"/>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02" name="Shape 102"/>
        <p:cNvGrpSpPr/>
        <p:nvPr/>
      </p:nvGrpSpPr>
      <p:grpSpPr>
        <a:xfrm>
          <a:off x="0" y="0"/>
          <a:ext cx="0" cy="0"/>
          <a:chOff x="0" y="0"/>
          <a:chExt cx="0" cy="0"/>
        </a:xfrm>
      </p:grpSpPr>
      <p:sp>
        <p:nvSpPr>
          <p:cNvPr id="103" name="Google Shape;103;p26"/>
          <p:cNvSpPr/>
          <p:nvPr/>
        </p:nvSpPr>
        <p:spPr>
          <a:xfrm>
            <a:off x="0" y="5353050"/>
            <a:ext cx="12192000" cy="1505100"/>
          </a:xfrm>
          <a:prstGeom prst="roundRect">
            <a:avLst>
              <a:gd fmla="val 0" name="adj"/>
            </a:avLst>
          </a:prstGeom>
          <a:solidFill>
            <a:srgbClr val="E6E9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 name="Google Shape;104;p26"/>
          <p:cNvSpPr/>
          <p:nvPr>
            <p:ph idx="2" type="pic"/>
          </p:nvPr>
        </p:nvSpPr>
        <p:spPr>
          <a:xfrm>
            <a:off x="7500801" y="827313"/>
            <a:ext cx="2424000" cy="4978500"/>
          </a:xfrm>
          <a:prstGeom prst="roundRect">
            <a:avLst>
              <a:gd fmla="val 12475" name="adj"/>
            </a:avLst>
          </a:prstGeom>
          <a:solidFill>
            <a:schemeClr val="lt1"/>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05" name="Shape 1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jp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png"/><Relationship Id="rId9" Type="http://schemas.openxmlformats.org/officeDocument/2006/relationships/image" Target="../media/image9.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8.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chart" Target="../charts/chart1.xml"/><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2.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9"/>
          <p:cNvPicPr preferRelativeResize="0"/>
          <p:nvPr/>
        </p:nvPicPr>
        <p:blipFill rotWithShape="1">
          <a:blip r:embed="rId3">
            <a:alphaModFix/>
          </a:blip>
          <a:srcRect b="9387" l="4694" r="4694" t="0"/>
          <a:stretch/>
        </p:blipFill>
        <p:spPr>
          <a:xfrm>
            <a:off x="150" y="0"/>
            <a:ext cx="12191698" cy="6858000"/>
          </a:xfrm>
          <a:prstGeom prst="rect">
            <a:avLst/>
          </a:prstGeom>
          <a:noFill/>
          <a:ln>
            <a:noFill/>
          </a:ln>
        </p:spPr>
      </p:pic>
      <p:sp>
        <p:nvSpPr>
          <p:cNvPr id="130" name="Google Shape;130;p29"/>
          <p:cNvSpPr/>
          <p:nvPr/>
        </p:nvSpPr>
        <p:spPr>
          <a:xfrm>
            <a:off x="150" y="15400"/>
            <a:ext cx="12191700" cy="6858000"/>
          </a:xfrm>
          <a:prstGeom prst="rect">
            <a:avLst/>
          </a:prstGeom>
          <a:solidFill>
            <a:srgbClr val="292C34">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        </a:t>
            </a:r>
            <a:endParaRPr/>
          </a:p>
        </p:txBody>
      </p:sp>
      <p:pic>
        <p:nvPicPr>
          <p:cNvPr id="131" name="Google Shape;131;p29"/>
          <p:cNvPicPr preferRelativeResize="0"/>
          <p:nvPr/>
        </p:nvPicPr>
        <p:blipFill rotWithShape="1">
          <a:blip r:embed="rId4">
            <a:alphaModFix/>
          </a:blip>
          <a:srcRect b="5579" l="0" r="0" t="5588"/>
          <a:stretch/>
        </p:blipFill>
        <p:spPr>
          <a:xfrm>
            <a:off x="9223944" y="272934"/>
            <a:ext cx="2764555" cy="844810"/>
          </a:xfrm>
          <a:prstGeom prst="rect">
            <a:avLst/>
          </a:prstGeom>
          <a:noFill/>
          <a:ln>
            <a:noFill/>
          </a:ln>
        </p:spPr>
      </p:pic>
      <p:sp>
        <p:nvSpPr>
          <p:cNvPr id="132" name="Google Shape;132;p29"/>
          <p:cNvSpPr/>
          <p:nvPr/>
        </p:nvSpPr>
        <p:spPr>
          <a:xfrm>
            <a:off x="986400" y="6463800"/>
            <a:ext cx="3735000" cy="3867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9"/>
          <p:cNvSpPr/>
          <p:nvPr/>
        </p:nvSpPr>
        <p:spPr>
          <a:xfrm>
            <a:off x="4721658" y="6463800"/>
            <a:ext cx="3735000" cy="386700"/>
          </a:xfrm>
          <a:prstGeom prst="rect">
            <a:avLst/>
          </a:prstGeom>
          <a:solidFill>
            <a:srgbClr val="FF83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9"/>
          <p:cNvSpPr/>
          <p:nvPr/>
        </p:nvSpPr>
        <p:spPr>
          <a:xfrm>
            <a:off x="8456916" y="6463800"/>
            <a:ext cx="3735000" cy="386700"/>
          </a:xfrm>
          <a:prstGeom prst="rect">
            <a:avLst/>
          </a:prstGeom>
          <a:solidFill>
            <a:srgbClr val="A2D4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9"/>
          <p:cNvSpPr txBox="1"/>
          <p:nvPr/>
        </p:nvSpPr>
        <p:spPr>
          <a:xfrm>
            <a:off x="2169872" y="6463798"/>
            <a:ext cx="20514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FFFFFF"/>
                </a:solidFill>
                <a:latin typeface="Nunito Sans"/>
                <a:ea typeface="Nunito Sans"/>
                <a:cs typeface="Nunito Sans"/>
                <a:sym typeface="Nunito Sans"/>
              </a:rPr>
              <a:t>(506) 4040-0440 EXT 0123</a:t>
            </a:r>
            <a:endParaRPr b="1" sz="1000">
              <a:solidFill>
                <a:srgbClr val="FFFFFF"/>
              </a:solidFill>
              <a:latin typeface="Nunito Sans"/>
              <a:ea typeface="Nunito Sans"/>
              <a:cs typeface="Nunito Sans"/>
              <a:sym typeface="Nunito Sans"/>
            </a:endParaRPr>
          </a:p>
        </p:txBody>
      </p:sp>
      <p:pic>
        <p:nvPicPr>
          <p:cNvPr id="136" name="Google Shape;136;p29"/>
          <p:cNvPicPr preferRelativeResize="0"/>
          <p:nvPr/>
        </p:nvPicPr>
        <p:blipFill>
          <a:blip r:embed="rId5">
            <a:alphaModFix/>
          </a:blip>
          <a:stretch>
            <a:fillRect/>
          </a:stretch>
        </p:blipFill>
        <p:spPr>
          <a:xfrm>
            <a:off x="1773600" y="6528280"/>
            <a:ext cx="257793" cy="257826"/>
          </a:xfrm>
          <a:prstGeom prst="rect">
            <a:avLst/>
          </a:prstGeom>
          <a:noFill/>
          <a:ln>
            <a:noFill/>
          </a:ln>
        </p:spPr>
      </p:pic>
      <p:grpSp>
        <p:nvGrpSpPr>
          <p:cNvPr id="137" name="Google Shape;137;p29"/>
          <p:cNvGrpSpPr/>
          <p:nvPr/>
        </p:nvGrpSpPr>
        <p:grpSpPr>
          <a:xfrm>
            <a:off x="9748173" y="6531824"/>
            <a:ext cx="1255582" cy="251372"/>
            <a:chOff x="10205373" y="6531824"/>
            <a:chExt cx="1255582" cy="251372"/>
          </a:xfrm>
        </p:grpSpPr>
        <p:pic>
          <p:nvPicPr>
            <p:cNvPr id="138" name="Google Shape;138;p29"/>
            <p:cNvPicPr preferRelativeResize="0"/>
            <p:nvPr/>
          </p:nvPicPr>
          <p:blipFill>
            <a:blip r:embed="rId6">
              <a:alphaModFix/>
            </a:blip>
            <a:stretch>
              <a:fillRect/>
            </a:stretch>
          </p:blipFill>
          <p:spPr>
            <a:xfrm>
              <a:off x="10205373" y="6535175"/>
              <a:ext cx="244667" cy="244669"/>
            </a:xfrm>
            <a:prstGeom prst="rect">
              <a:avLst/>
            </a:prstGeom>
            <a:noFill/>
            <a:ln>
              <a:noFill/>
            </a:ln>
          </p:spPr>
        </p:pic>
        <p:pic>
          <p:nvPicPr>
            <p:cNvPr id="139" name="Google Shape;139;p29"/>
            <p:cNvPicPr preferRelativeResize="0"/>
            <p:nvPr/>
          </p:nvPicPr>
          <p:blipFill>
            <a:blip r:embed="rId7">
              <a:alphaModFix/>
            </a:blip>
            <a:stretch>
              <a:fillRect/>
            </a:stretch>
          </p:blipFill>
          <p:spPr>
            <a:xfrm>
              <a:off x="10593736" y="6536856"/>
              <a:ext cx="113955" cy="241318"/>
            </a:xfrm>
            <a:prstGeom prst="rect">
              <a:avLst/>
            </a:prstGeom>
            <a:noFill/>
            <a:ln>
              <a:noFill/>
            </a:ln>
          </p:spPr>
        </p:pic>
        <p:pic>
          <p:nvPicPr>
            <p:cNvPr id="140" name="Google Shape;140;p29"/>
            <p:cNvPicPr preferRelativeResize="0"/>
            <p:nvPr/>
          </p:nvPicPr>
          <p:blipFill>
            <a:blip r:embed="rId8">
              <a:alphaModFix/>
            </a:blip>
            <a:stretch>
              <a:fillRect/>
            </a:stretch>
          </p:blipFill>
          <p:spPr>
            <a:xfrm>
              <a:off x="10851387" y="6531824"/>
              <a:ext cx="251371" cy="251372"/>
            </a:xfrm>
            <a:prstGeom prst="rect">
              <a:avLst/>
            </a:prstGeom>
            <a:noFill/>
            <a:ln>
              <a:noFill/>
            </a:ln>
          </p:spPr>
        </p:pic>
        <p:pic>
          <p:nvPicPr>
            <p:cNvPr id="141" name="Google Shape;141;p29"/>
            <p:cNvPicPr preferRelativeResize="0"/>
            <p:nvPr/>
          </p:nvPicPr>
          <p:blipFill>
            <a:blip r:embed="rId9">
              <a:alphaModFix/>
            </a:blip>
            <a:stretch>
              <a:fillRect/>
            </a:stretch>
          </p:blipFill>
          <p:spPr>
            <a:xfrm>
              <a:off x="11246453" y="6555291"/>
              <a:ext cx="214503" cy="204450"/>
            </a:xfrm>
            <a:prstGeom prst="rect">
              <a:avLst/>
            </a:prstGeom>
            <a:noFill/>
            <a:ln>
              <a:noFill/>
            </a:ln>
          </p:spPr>
        </p:pic>
      </p:grpSp>
      <p:sp>
        <p:nvSpPr>
          <p:cNvPr id="142" name="Google Shape;142;p29"/>
          <p:cNvSpPr txBox="1"/>
          <p:nvPr/>
        </p:nvSpPr>
        <p:spPr>
          <a:xfrm>
            <a:off x="6259804" y="6463798"/>
            <a:ext cx="1285200" cy="3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FFFFFF"/>
                </a:solidFill>
                <a:latin typeface="Nunito Sans"/>
                <a:ea typeface="Nunito Sans"/>
                <a:cs typeface="Nunito Sans"/>
                <a:sym typeface="Nunito Sans"/>
              </a:rPr>
              <a:t>www.upi.ac.cr</a:t>
            </a:r>
            <a:endParaRPr b="1" sz="1100">
              <a:solidFill>
                <a:srgbClr val="FFFFFF"/>
              </a:solidFill>
              <a:latin typeface="Nunito Sans"/>
              <a:ea typeface="Nunito Sans"/>
              <a:cs typeface="Nunito Sans"/>
              <a:sym typeface="Nunito Sans"/>
            </a:endParaRPr>
          </a:p>
        </p:txBody>
      </p:sp>
      <p:sp>
        <p:nvSpPr>
          <p:cNvPr id="143" name="Titulo portada"/>
          <p:cNvSpPr txBox="1"/>
          <p:nvPr/>
        </p:nvSpPr>
        <p:spPr>
          <a:xfrm>
            <a:off x="1463040" y="1417320"/>
            <a:ext cx="9326880" cy="4480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400"/>
              </a:spcAft>
              <a:buNone/>
            </a:pPr>
            <a:r>
              <a:rPr sz="1400" b="1" i="0">
                <a:solidFill>
                  <a:srgbClr val="A2D45E"/>
                </a:solidFill>
                <a:latin typeface="Arial"/>
              </a:rPr>
              <a:t>ANÁLISIS DE SISTEMAS II  ·  PROYECTO INTEGRADOR  ·  FASE 1</a:t>
            </a:r>
            <a:endParaRPr b="1" sz="2400">
              <a:solidFill>
                <a:srgbClr val="FFFFFF"/>
              </a:solidFill>
              <a:latin typeface="Nunito Sans"/>
              <a:ea typeface="Nunito Sans"/>
              <a:cs typeface="Nunito Sans"/>
              <a:sym typeface="Nunito Sans"/>
            </a:endParaRPr>
          </a:p>
          <a:p>
            <a:pPr algn="l">
              <a:spcBef>
                <a:spcPts val="0"/>
              </a:spcBef>
              <a:spcAft>
                <a:spcPts val="400"/>
              </a:spcAft>
            </a:pPr>
            <a:r>
              <a:rPr sz="2400" b="0" i="0">
                <a:solidFill>
                  <a:srgbClr val="FFFFFF"/>
                </a:solidFill>
                <a:latin typeface="Arial"/>
              </a:rPr>
              <a:t>Propuesta de Análisis y Diseño Conceptual de un Sistema de Información Empresarial para</a:t>
            </a:r>
          </a:p>
          <a:p>
            <a:pPr algn="l">
              <a:spcBef>
                <a:spcPts val="0"/>
              </a:spcBef>
              <a:spcAft>
                <a:spcPts val="2200"/>
              </a:spcAft>
            </a:pPr>
            <a:r>
              <a:rPr sz="4400" b="1" i="0">
                <a:solidFill>
                  <a:srgbClr val="FFFFFF"/>
                </a:solidFill>
                <a:latin typeface="Arial"/>
              </a:rPr>
              <a:t>Carnicería La Feria</a:t>
            </a:r>
          </a:p>
          <a:p>
            <a:pPr algn="l">
              <a:spcBef>
                <a:spcPts val="0"/>
              </a:spcBef>
              <a:spcAft>
                <a:spcPts val="200"/>
              </a:spcAft>
            </a:pPr>
            <a:r>
              <a:rPr sz="1600" b="0" i="0">
                <a:solidFill>
                  <a:srgbClr val="FFFFFF"/>
                </a:solidFill>
                <a:latin typeface="Arial"/>
              </a:rPr>
              <a:t>Rebeca Morales Tijerino  ·  Josseph Ortiz Navarro</a:t>
            </a:r>
          </a:p>
          <a:p>
            <a:pPr algn="l">
              <a:spcBef>
                <a:spcPts val="0"/>
              </a:spcBef>
              <a:spcAft>
                <a:spcPts val="1400"/>
              </a:spcAft>
            </a:pPr>
            <a:r>
              <a:rPr sz="1600" b="0" i="0">
                <a:solidFill>
                  <a:srgbClr val="FFFFFF"/>
                </a:solidFill>
                <a:latin typeface="Arial"/>
              </a:rPr>
              <a:t>Fernanda Rodríguez Alvarado  ·  Nicole Sánchez Gómez</a:t>
            </a:r>
          </a:p>
          <a:p>
            <a:pPr algn="l">
              <a:spcBef>
                <a:spcPts val="0"/>
              </a:spcBef>
              <a:spcAft>
                <a:spcPts val="0"/>
              </a:spcAft>
            </a:pPr>
            <a:r>
              <a:rPr sz="1400" b="0" i="0">
                <a:solidFill>
                  <a:srgbClr val="DDE3F0"/>
                </a:solidFill>
                <a:latin typeface="Arial"/>
              </a:rPr>
              <a:t>Profesor: Randolph Vega Ramírez  ·  San José, Costa Rica  ·  Octubre de 2026</a:t>
            </a:r>
          </a:p>
        </p:txBody>
      </p:sp>
      <p:pic>
        <p:nvPicPr>
          <p:cNvPr id="144" name="Google Shape;144;p29"/>
          <p:cNvPicPr preferRelativeResize="0"/>
          <p:nvPr/>
        </p:nvPicPr>
        <p:blipFill>
          <a:blip r:embed="rId10">
            <a:alphaModFix/>
          </a:blip>
          <a:stretch>
            <a:fillRect/>
          </a:stretch>
        </p:blipFill>
        <p:spPr>
          <a:xfrm>
            <a:off x="5839588" y="6463800"/>
            <a:ext cx="361473" cy="386700"/>
          </a:xfrm>
          <a:prstGeom prst="rect">
            <a:avLst/>
          </a:prstGeom>
          <a:noFill/>
          <a:ln>
            <a:noFill/>
          </a:ln>
        </p:spPr>
      </p:pic>
      <p:sp>
        <p:nvSpPr>
          <p:cNvPr id="145" name="Google Shape;145;p29"/>
          <p:cNvSpPr/>
          <p:nvPr/>
        </p:nvSpPr>
        <p:spPr>
          <a:xfrm>
            <a:off x="0" y="15550"/>
            <a:ext cx="986400" cy="6858000"/>
          </a:xfrm>
          <a:prstGeom prst="rect">
            <a:avLst/>
          </a:prstGeom>
          <a:solidFill>
            <a:srgbClr val="D324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6" name="Google Shape;146;p29"/>
          <p:cNvPicPr preferRelativeResize="0"/>
          <p:nvPr/>
        </p:nvPicPr>
        <p:blipFill rotWithShape="1">
          <a:blip r:embed="rId11">
            <a:alphaModFix/>
          </a:blip>
          <a:srcRect b="-12689" l="0" r="-3681" t="0"/>
          <a:stretch/>
        </p:blipFill>
        <p:spPr>
          <a:xfrm>
            <a:off x="187549" y="320525"/>
            <a:ext cx="464000" cy="396281"/>
          </a:xfrm>
          <a:prstGeom prst="rect">
            <a:avLst/>
          </a:prstGeom>
          <a:noFill/>
          <a:ln>
            <a:noFill/>
          </a:ln>
        </p:spPr>
      </p:pic>
      <p:sp>
        <p:nvSpPr>
          <p:cNvPr id="147" name="Google Shape;147;p29"/>
          <p:cNvSpPr txBox="1"/>
          <p:nvPr/>
        </p:nvSpPr>
        <p:spPr>
          <a:xfrm rot="-5400000">
            <a:off x="-1628850" y="417387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Facultad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Ciencias Empresariales</a:t>
            </a:r>
            <a:endParaRPr sz="2200">
              <a:solidFill>
                <a:srgbClr val="FFFFFF"/>
              </a:solidFill>
              <a:latin typeface="Nunito Sans Black"/>
              <a:ea typeface="Nunito Sans Black"/>
              <a:cs typeface="Nunito Sans Black"/>
              <a:sym typeface="Nunito Sans Black"/>
            </a:endParaRPr>
          </a:p>
        </p:txBody>
      </p:sp>
      <p:sp>
        <p:nvSpPr>
          <p:cNvPr id="148" name="Google Shape;148;p29"/>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9"/>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a:t>
            </a:r>
            <a:r>
              <a:rPr lang="en-US">
                <a:solidFill>
                  <a:srgbClr val="FFFFFF"/>
                </a:solidFill>
                <a:latin typeface="Nunito Sans Medium"/>
                <a:ea typeface="Nunito Sans Medium"/>
                <a:cs typeface="Nunito Sans Medium"/>
                <a:sym typeface="Nunito Sans Medium"/>
              </a:rPr>
              <a:t>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pic>
        <p:nvPicPr>
          <p:cNvPr id="150" name="Google Shape;150;p29"/>
          <p:cNvPicPr preferRelativeResize="0"/>
          <p:nvPr/>
        </p:nvPicPr>
        <p:blipFill>
          <a:blip r:embed="rId12">
            <a:alphaModFix/>
          </a:blip>
          <a:stretch>
            <a:fillRect/>
          </a:stretch>
        </p:blipFill>
        <p:spPr>
          <a:xfrm>
            <a:off x="187550" y="303750"/>
            <a:ext cx="468925" cy="39435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Objetivo y alcance</a:t>
            </a:r>
            <a:endParaRPr>
              <a:solidFill>
                <a:srgbClr val="595959"/>
              </a:solidFill>
              <a:latin typeface="Nunito Sans ExtraBold"/>
              <a:ea typeface="Nunito Sans ExtraBold"/>
              <a:cs typeface="Nunito Sans ExtraBold"/>
              <a:sym typeface="Nunito Sans ExtraBold"/>
            </a:endParaRPr>
          </a:p>
        </p:txBody>
      </p:sp>
      <p:sp>
        <p:nvSpPr>
          <p:cNvPr id="544" name="Tarjeta objetivo"/>
          <p:cNvSpPr/>
          <p:nvPr/>
        </p:nvSpPr>
        <p:spPr>
          <a:xfrm>
            <a:off x="1097280" y="1508760"/>
            <a:ext cx="3657600" cy="4480560"/>
          </a:xfrm>
          <a:prstGeom prst="rect">
            <a:avLst/>
          </a:prstGeom>
          <a:solidFill>
            <a:srgbClr val="014AA0"/>
          </a:solidFill>
          <a:ln>
            <a:noFill/>
          </a:ln>
        </p:spPr>
        <p:txBody>
          <a:bodyPr rtlCol="0" anchor="t" wrap="square" lIns="274320" tIns="320040" rIns="274320" bIns="274320">
            <a:noAutofit/>
          </a:bodyPr>
          <a:lstStyle/>
          <a:p>
            <a:pPr algn="l">
              <a:spcBef>
                <a:spcPts val="0"/>
              </a:spcBef>
              <a:spcAft>
                <a:spcPts val="1000"/>
              </a:spcAft>
            </a:pPr>
            <a:r>
              <a:rPr sz="1200" b="1" i="0">
                <a:solidFill>
                  <a:srgbClr val="A2D45E"/>
                </a:solidFill>
                <a:latin typeface="Arial"/>
              </a:rPr>
              <a:t>OBJETIVO GENERAL</a:t>
            </a:r>
          </a:p>
          <a:p>
            <a:pPr algn="l">
              <a:spcBef>
                <a:spcPts val="0"/>
              </a:spcBef>
              <a:spcAft>
                <a:spcPts val="1800"/>
              </a:spcAft>
            </a:pPr>
            <a:r>
              <a:rPr sz="2000" b="0" i="0">
                <a:solidFill>
                  <a:srgbClr val="FFFFFF"/>
                </a:solidFill>
                <a:latin typeface="Arial"/>
              </a:rPr>
              <a:t>Proponer el análisis y diseño conceptual de un sistema de información que controle inventario, pedidos a proveedores, ventas y cuentas por cobrar.</a:t>
            </a:r>
          </a:p>
          <a:p>
            <a:pPr algn="l">
              <a:spcBef>
                <a:spcPts val="0"/>
              </a:spcBef>
              <a:spcAft>
                <a:spcPts val="0"/>
              </a:spcAft>
            </a:pPr>
            <a:r>
              <a:rPr sz="1600" b="0" i="0">
                <a:solidFill>
                  <a:srgbClr val="DDE3F0"/>
                </a:solidFill>
                <a:latin typeface="Arial"/>
              </a:rPr>
              <a:t>Meta: reducir errores, pérdidas y tiempo invertido en tareas manuales.</a:t>
            </a:r>
          </a:p>
        </p:txBody>
      </p:sp>
      <p:sp>
        <p:nvSpPr>
          <p:cNvPr id="545" name="Encabezado dentro del alcance"/>
          <p:cNvSpPr/>
          <p:nvPr/>
        </p:nvSpPr>
        <p:spPr>
          <a:xfrm>
            <a:off x="5029200" y="1508760"/>
            <a:ext cx="2926080" cy="548640"/>
          </a:xfrm>
          <a:prstGeom prst="rect">
            <a:avLst/>
          </a:prstGeom>
          <a:solidFill>
            <a:srgbClr val="A2D45E"/>
          </a:solidFill>
          <a:ln>
            <a:noFill/>
          </a:ln>
        </p:spPr>
        <p:txBody>
          <a:bodyPr rtlCol="0" anchor="ctr" wrap="square" lIns="182880" tIns="0" bIns="0">
            <a:noAutofit/>
          </a:bodyPr>
          <a:lstStyle/>
          <a:p>
            <a:pPr algn="l">
              <a:spcBef>
                <a:spcPts val="0"/>
              </a:spcBef>
              <a:spcAft>
                <a:spcPts val="0"/>
              </a:spcAft>
            </a:pPr>
            <a:r>
              <a:rPr sz="1500" b="1" i="0">
                <a:solidFill>
                  <a:srgbClr val="2B2B2B"/>
                </a:solidFill>
                <a:latin typeface="Arial"/>
              </a:rPr>
              <a:t>Dentro del alcance</a:t>
            </a:r>
          </a:p>
        </p:txBody>
      </p:sp>
      <p:sp>
        <p:nvSpPr>
          <p:cNvPr id="546" name="Lista dentro del alcance"/>
          <p:cNvSpPr/>
          <p:nvPr/>
        </p:nvSpPr>
        <p:spPr>
          <a:xfrm>
            <a:off x="5029200" y="2057400"/>
            <a:ext cx="2926080" cy="3931920"/>
          </a:xfrm>
          <a:prstGeom prst="rect">
            <a:avLst/>
          </a:prstGeom>
          <a:solidFill>
            <a:srgbClr val="F0F1FA"/>
          </a:solidFill>
          <a:ln>
            <a:noFill/>
          </a:ln>
        </p:spPr>
        <p:txBody>
          <a:bodyPr rtlCol="0" anchor="t" wrap="square" lIns="182880" tIns="228600" rIns="137160" bIns="91440">
            <a:noAutofit/>
          </a:bodyPr>
          <a:lstStyle/>
          <a:p>
            <a:pPr algn="l" marL="182880" indent="-182880">
              <a:spcBef>
                <a:spcPts val="0"/>
              </a:spcBef>
              <a:spcAft>
                <a:spcPts val="800"/>
              </a:spcAft>
              <a:buClr>
                <a:srgbClr val="4E8A12"/>
              </a:buClr>
              <a:buFont typeface="Arial"/>
              <a:buChar char="•"/>
            </a:pPr>
            <a:r>
              <a:rPr sz="1550" b="0" i="0">
                <a:solidFill>
                  <a:srgbClr val="2B2B2B"/>
                </a:solidFill>
                <a:latin typeface="Arial"/>
              </a:rPr>
              <a:t>Procesos de inventario, pedidos, ventas y cuentas por cobrar</a:t>
            </a:r>
          </a:p>
          <a:p>
            <a:pPr algn="l" marL="182880" indent="-182880">
              <a:spcBef>
                <a:spcPts val="0"/>
              </a:spcBef>
              <a:spcAft>
                <a:spcPts val="800"/>
              </a:spcAft>
              <a:buClr>
                <a:srgbClr val="4E8A12"/>
              </a:buClr>
              <a:buFont typeface="Arial"/>
              <a:buChar char="•"/>
            </a:pPr>
            <a:r>
              <a:rPr sz="1550" b="0" i="0">
                <a:solidFill>
                  <a:srgbClr val="2B2B2B"/>
                </a:solidFill>
                <a:latin typeface="Arial"/>
              </a:rPr>
              <a:t>Requerimientos funcionales y no funcionales</a:t>
            </a:r>
          </a:p>
          <a:p>
            <a:pPr algn="l" marL="182880" indent="-182880">
              <a:spcBef>
                <a:spcPts val="0"/>
              </a:spcBef>
              <a:spcAft>
                <a:spcPts val="800"/>
              </a:spcAft>
              <a:buClr>
                <a:srgbClr val="4E8A12"/>
              </a:buClr>
              <a:buFont typeface="Arial"/>
              <a:buChar char="•"/>
            </a:pPr>
            <a:r>
              <a:rPr sz="1550" b="0" i="0">
                <a:solidFill>
                  <a:srgbClr val="2B2B2B"/>
                </a:solidFill>
                <a:latin typeface="Arial"/>
              </a:rPr>
              <a:t>Casos de uso e historias de usuario</a:t>
            </a:r>
          </a:p>
          <a:p>
            <a:pPr algn="l" marL="182880" indent="-182880">
              <a:spcBef>
                <a:spcPts val="0"/>
              </a:spcBef>
              <a:spcAft>
                <a:spcPts val="0"/>
              </a:spcAft>
              <a:buClr>
                <a:srgbClr val="4E8A12"/>
              </a:buClr>
              <a:buFont typeface="Arial"/>
              <a:buChar char="•"/>
            </a:pPr>
            <a:r>
              <a:rPr sz="1550" b="0" i="0">
                <a:solidFill>
                  <a:srgbClr val="2B2B2B"/>
                </a:solidFill>
                <a:latin typeface="Arial"/>
              </a:rPr>
              <a:t>Git, Kanban y bitácoras como evidencia</a:t>
            </a:r>
          </a:p>
        </p:txBody>
      </p:sp>
      <p:sp>
        <p:nvSpPr>
          <p:cNvPr id="547" name="Encabezado fuera del alcance"/>
          <p:cNvSpPr/>
          <p:nvPr/>
        </p:nvSpPr>
        <p:spPr>
          <a:xfrm>
            <a:off x="8138160" y="1508760"/>
            <a:ext cx="2926080" cy="548640"/>
          </a:xfrm>
          <a:prstGeom prst="rect">
            <a:avLst/>
          </a:prstGeom>
          <a:solidFill>
            <a:srgbClr val="FF8303"/>
          </a:solidFill>
          <a:ln>
            <a:noFill/>
          </a:ln>
        </p:spPr>
        <p:txBody>
          <a:bodyPr rtlCol="0" anchor="ctr" wrap="square" lIns="182880" tIns="0" bIns="0">
            <a:noAutofit/>
          </a:bodyPr>
          <a:lstStyle/>
          <a:p>
            <a:pPr algn="l">
              <a:spcBef>
                <a:spcPts val="0"/>
              </a:spcBef>
              <a:spcAft>
                <a:spcPts val="0"/>
              </a:spcAft>
            </a:pPr>
            <a:r>
              <a:rPr sz="1500" b="1" i="0">
                <a:solidFill>
                  <a:srgbClr val="2B2B2B"/>
                </a:solidFill>
                <a:latin typeface="Arial"/>
              </a:rPr>
              <a:t>Fuera del alcance</a:t>
            </a:r>
          </a:p>
        </p:txBody>
      </p:sp>
      <p:sp>
        <p:nvSpPr>
          <p:cNvPr id="548" name="Lista fuera del alcance"/>
          <p:cNvSpPr/>
          <p:nvPr/>
        </p:nvSpPr>
        <p:spPr>
          <a:xfrm>
            <a:off x="8138160" y="2057400"/>
            <a:ext cx="2926080" cy="3931920"/>
          </a:xfrm>
          <a:prstGeom prst="rect">
            <a:avLst/>
          </a:prstGeom>
          <a:solidFill>
            <a:srgbClr val="F0F1FA"/>
          </a:solidFill>
          <a:ln>
            <a:noFill/>
          </a:ln>
        </p:spPr>
        <p:txBody>
          <a:bodyPr rtlCol="0" anchor="t" wrap="square" lIns="182880" tIns="228600" rIns="137160" bIns="91440">
            <a:noAutofit/>
          </a:bodyPr>
          <a:lstStyle/>
          <a:p>
            <a:pPr algn="l" marL="182880" indent="-182880">
              <a:spcBef>
                <a:spcPts val="0"/>
              </a:spcBef>
              <a:spcAft>
                <a:spcPts val="800"/>
              </a:spcAft>
              <a:buClr>
                <a:srgbClr val="D96A00"/>
              </a:buClr>
              <a:buFont typeface="Arial"/>
              <a:buChar char="•"/>
            </a:pPr>
            <a:r>
              <a:rPr sz="1550" b="0" i="0">
                <a:solidFill>
                  <a:srgbClr val="2B2B2B"/>
                </a:solidFill>
                <a:latin typeface="Arial"/>
              </a:rPr>
              <a:t>Programación de código funcional</a:t>
            </a:r>
          </a:p>
          <a:p>
            <a:pPr algn="l" marL="182880" indent="-182880">
              <a:spcBef>
                <a:spcPts val="0"/>
              </a:spcBef>
              <a:spcAft>
                <a:spcPts val="800"/>
              </a:spcAft>
              <a:buClr>
                <a:srgbClr val="D96A00"/>
              </a:buClr>
              <a:buFont typeface="Arial"/>
              <a:buChar char="•"/>
            </a:pPr>
            <a:r>
              <a:rPr sz="1550" b="0" i="0">
                <a:solidFill>
                  <a:srgbClr val="2B2B2B"/>
                </a:solidFill>
                <a:latin typeface="Arial"/>
              </a:rPr>
              <a:t>Base de datos implementada</a:t>
            </a:r>
          </a:p>
          <a:p>
            <a:pPr algn="l" marL="182880" indent="-182880">
              <a:spcBef>
                <a:spcPts val="0"/>
              </a:spcBef>
              <a:spcAft>
                <a:spcPts val="800"/>
              </a:spcAft>
              <a:buClr>
                <a:srgbClr val="D96A00"/>
              </a:buClr>
              <a:buFont typeface="Arial"/>
              <a:buChar char="•"/>
            </a:pPr>
            <a:r>
              <a:rPr sz="1550" b="0" i="0">
                <a:solidFill>
                  <a:srgbClr val="2B2B2B"/>
                </a:solidFill>
                <a:latin typeface="Arial"/>
              </a:rPr>
              <a:t>Hosting o despliegue</a:t>
            </a:r>
          </a:p>
          <a:p>
            <a:pPr algn="l" marL="182880" indent="-182880">
              <a:spcBef>
                <a:spcPts val="0"/>
              </a:spcBef>
              <a:spcAft>
                <a:spcPts val="800"/>
              </a:spcAft>
              <a:buClr>
                <a:srgbClr val="D96A00"/>
              </a:buClr>
              <a:buFont typeface="Arial"/>
              <a:buChar char="•"/>
            </a:pPr>
            <a:r>
              <a:rPr sz="1550" b="0" i="0">
                <a:solidFill>
                  <a:srgbClr val="2B2B2B"/>
                </a:solidFill>
                <a:latin typeface="Arial"/>
              </a:rPr>
              <a:t>Pruebas de software (QA)</a:t>
            </a:r>
          </a:p>
          <a:p>
            <a:pPr algn="l" marL="182880" indent="-182880">
              <a:spcBef>
                <a:spcPts val="0"/>
              </a:spcBef>
              <a:spcAft>
                <a:spcPts val="800"/>
              </a:spcAft>
              <a:buClr>
                <a:srgbClr val="D96A00"/>
              </a:buClr>
              <a:buFont typeface="Arial"/>
              <a:buChar char="•"/>
            </a:pPr>
            <a:r>
              <a:rPr sz="1550" b="0" i="0">
                <a:solidFill>
                  <a:srgbClr val="2B2B2B"/>
                </a:solidFill>
                <a:latin typeface="Arial"/>
              </a:rPr>
              <a:t>APIs externas reales (p. ej., factura electrónica)</a:t>
            </a:r>
          </a:p>
          <a:p>
            <a:pPr algn="l" marL="182880" indent="-182880">
              <a:spcBef>
                <a:spcPts val="0"/>
              </a:spcBef>
              <a:spcAft>
                <a:spcPts val="0"/>
              </a:spcAft>
              <a:buClr>
                <a:srgbClr val="D96A00"/>
              </a:buClr>
              <a:buFont typeface="Arial"/>
              <a:buChar char="•"/>
            </a:pPr>
            <a:r>
              <a:rPr sz="1550" b="0" i="0">
                <a:solidFill>
                  <a:srgbClr val="2B2B2B"/>
                </a:solidFill>
                <a:latin typeface="Arial"/>
              </a:rPr>
              <a:t>Contabilidad, planillas y RR. HH.</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La organización: Carnicería La Feria</a:t>
            </a:r>
            <a:endParaRPr>
              <a:solidFill>
                <a:srgbClr val="595959"/>
              </a:solidFill>
              <a:latin typeface="Nunito Sans ExtraBold"/>
              <a:ea typeface="Nunito Sans ExtraBold"/>
              <a:cs typeface="Nunito Sans ExtraBold"/>
              <a:sym typeface="Nunito Sans ExtraBold"/>
            </a:endParaRPr>
          </a:p>
        </p:txBody>
      </p:sp>
      <p:sp>
        <p:nvSpPr>
          <p:cNvPr id="544" name="Dato 30+"/>
          <p:cNvSpPr/>
          <p:nvPr/>
        </p:nvSpPr>
        <p:spPr>
          <a:xfrm>
            <a:off x="1097280" y="1508760"/>
            <a:ext cx="2331720" cy="1691640"/>
          </a:xfrm>
          <a:prstGeom prst="rect">
            <a:avLst/>
          </a:prstGeom>
          <a:solidFill>
            <a:srgbClr val="F0F1FA"/>
          </a:solidFill>
          <a:ln>
            <a:noFill/>
          </a:ln>
        </p:spPr>
        <p:txBody>
          <a:bodyPr rtlCol="0" anchor="t" wrap="square" lIns="182880" tIns="137160" rIns="137160" bIns="91440">
            <a:noAutofit/>
          </a:bodyPr>
          <a:lstStyle/>
          <a:p>
            <a:pPr algn="l">
              <a:spcBef>
                <a:spcPts val="0"/>
              </a:spcBef>
              <a:spcAft>
                <a:spcPts val="200"/>
              </a:spcAft>
            </a:pPr>
            <a:r>
              <a:rPr sz="3600" b="1" i="0">
                <a:solidFill>
                  <a:srgbClr val="014AA0"/>
                </a:solidFill>
                <a:latin typeface="Arial"/>
              </a:rPr>
              <a:t>30+</a:t>
            </a:r>
          </a:p>
          <a:p>
            <a:pPr algn="l">
              <a:spcBef>
                <a:spcPts val="0"/>
              </a:spcBef>
              <a:spcAft>
                <a:spcPts val="0"/>
              </a:spcAft>
            </a:pPr>
            <a:r>
              <a:rPr sz="1400" b="0" i="0">
                <a:solidFill>
                  <a:srgbClr val="2B2B2B"/>
                </a:solidFill>
                <a:latin typeface="Arial"/>
              </a:rPr>
              <a:t>años de funcionar en La Aurora de Heredia</a:t>
            </a:r>
          </a:p>
        </p:txBody>
      </p:sp>
      <p:sp>
        <p:nvSpPr>
          <p:cNvPr id="545" name="Dato 3"/>
          <p:cNvSpPr/>
          <p:nvPr/>
        </p:nvSpPr>
        <p:spPr>
          <a:xfrm>
            <a:off x="3639311" y="1508760"/>
            <a:ext cx="2331720" cy="1691640"/>
          </a:xfrm>
          <a:prstGeom prst="rect">
            <a:avLst/>
          </a:prstGeom>
          <a:solidFill>
            <a:srgbClr val="F0F1FA"/>
          </a:solidFill>
          <a:ln>
            <a:noFill/>
          </a:ln>
        </p:spPr>
        <p:txBody>
          <a:bodyPr rtlCol="0" anchor="t" wrap="square" lIns="182880" tIns="137160" rIns="137160" bIns="91440">
            <a:noAutofit/>
          </a:bodyPr>
          <a:lstStyle/>
          <a:p>
            <a:pPr algn="l">
              <a:spcBef>
                <a:spcPts val="0"/>
              </a:spcBef>
              <a:spcAft>
                <a:spcPts val="200"/>
              </a:spcAft>
            </a:pPr>
            <a:r>
              <a:rPr sz="3600" b="1" i="0">
                <a:solidFill>
                  <a:srgbClr val="D96A00"/>
                </a:solidFill>
                <a:latin typeface="Arial"/>
              </a:rPr>
              <a:t>3</a:t>
            </a:r>
          </a:p>
          <a:p>
            <a:pPr algn="l">
              <a:spcBef>
                <a:spcPts val="0"/>
              </a:spcBef>
              <a:spcAft>
                <a:spcPts val="0"/>
              </a:spcAft>
            </a:pPr>
            <a:r>
              <a:rPr sz="1400" b="0" i="0">
                <a:solidFill>
                  <a:srgbClr val="2B2B2B"/>
                </a:solidFill>
                <a:latin typeface="Arial"/>
              </a:rPr>
              <a:t>personas: 2 dueños y 1 colaboradora de medio tiempo</a:t>
            </a:r>
          </a:p>
        </p:txBody>
      </p:sp>
      <p:sp>
        <p:nvSpPr>
          <p:cNvPr id="546" name="Dato 4"/>
          <p:cNvSpPr/>
          <p:nvPr/>
        </p:nvSpPr>
        <p:spPr>
          <a:xfrm>
            <a:off x="6181344" y="1508760"/>
            <a:ext cx="2331720" cy="1691640"/>
          </a:xfrm>
          <a:prstGeom prst="rect">
            <a:avLst/>
          </a:prstGeom>
          <a:solidFill>
            <a:srgbClr val="F0F1FA"/>
          </a:solidFill>
          <a:ln>
            <a:noFill/>
          </a:ln>
        </p:spPr>
        <p:txBody>
          <a:bodyPr rtlCol="0" anchor="t" wrap="square" lIns="182880" tIns="137160" rIns="137160" bIns="91440">
            <a:noAutofit/>
          </a:bodyPr>
          <a:lstStyle/>
          <a:p>
            <a:pPr algn="l">
              <a:spcBef>
                <a:spcPts val="0"/>
              </a:spcBef>
              <a:spcAft>
                <a:spcPts val="200"/>
              </a:spcAft>
            </a:pPr>
            <a:r>
              <a:rPr sz="3600" b="1" i="0">
                <a:solidFill>
                  <a:srgbClr val="595959"/>
                </a:solidFill>
                <a:latin typeface="Arial"/>
              </a:rPr>
              <a:t>4</a:t>
            </a:r>
          </a:p>
          <a:p>
            <a:pPr algn="l">
              <a:spcBef>
                <a:spcPts val="0"/>
              </a:spcBef>
              <a:spcAft>
                <a:spcPts val="0"/>
              </a:spcAft>
            </a:pPr>
            <a:r>
              <a:rPr sz="1400" b="0" i="0">
                <a:solidFill>
                  <a:srgbClr val="2B2B2B"/>
                </a:solidFill>
                <a:latin typeface="Arial"/>
              </a:rPr>
              <a:t>áreas: administración, compras, ventas e inventario</a:t>
            </a:r>
          </a:p>
        </p:txBody>
      </p:sp>
      <p:sp>
        <p:nvSpPr>
          <p:cNvPr id="547" name="Dato PYME"/>
          <p:cNvSpPr/>
          <p:nvPr/>
        </p:nvSpPr>
        <p:spPr>
          <a:xfrm>
            <a:off x="8723376" y="1508760"/>
            <a:ext cx="2331720" cy="1691640"/>
          </a:xfrm>
          <a:prstGeom prst="rect">
            <a:avLst/>
          </a:prstGeom>
          <a:solidFill>
            <a:srgbClr val="F0F1FA"/>
          </a:solidFill>
          <a:ln>
            <a:noFill/>
          </a:ln>
        </p:spPr>
        <p:txBody>
          <a:bodyPr rtlCol="0" anchor="t" wrap="square" lIns="182880" tIns="137160" rIns="137160" bIns="91440">
            <a:noAutofit/>
          </a:bodyPr>
          <a:lstStyle/>
          <a:p>
            <a:pPr algn="l">
              <a:spcBef>
                <a:spcPts val="0"/>
              </a:spcBef>
              <a:spcAft>
                <a:spcPts val="200"/>
              </a:spcAft>
            </a:pPr>
            <a:r>
              <a:rPr sz="3600" b="1" i="0">
                <a:solidFill>
                  <a:srgbClr val="4E8A12"/>
                </a:solidFill>
                <a:latin typeface="Arial"/>
              </a:rPr>
              <a:t>PYME</a:t>
            </a:r>
          </a:p>
          <a:p>
            <a:pPr algn="l">
              <a:spcBef>
                <a:spcPts val="0"/>
              </a:spcBef>
              <a:spcAft>
                <a:spcPts val="0"/>
              </a:spcAft>
            </a:pPr>
            <a:r>
              <a:rPr sz="1400" b="0" i="0">
                <a:solidFill>
                  <a:srgbClr val="2B2B2B"/>
                </a:solidFill>
                <a:latin typeface="Arial"/>
              </a:rPr>
              <a:t>familiar de comercio minorista de alimentos</a:t>
            </a:r>
          </a:p>
        </p:txBody>
      </p:sp>
      <p:sp>
        <p:nvSpPr>
          <p:cNvPr id="548" name="Giro y sistemas"/>
          <p:cNvSpPr/>
          <p:nvPr/>
        </p:nvSpPr>
        <p:spPr>
          <a:xfrm>
            <a:off x="1097280" y="3383280"/>
            <a:ext cx="4846320" cy="2788920"/>
          </a:xfrm>
          <a:prstGeom prst="rect">
            <a:avLst/>
          </a:prstGeom>
          <a:solidFill>
            <a:srgbClr val="F0F1FA"/>
          </a:solidFill>
          <a:ln>
            <a:noFill/>
          </a:ln>
        </p:spPr>
        <p:txBody>
          <a:bodyPr rtlCol="0" anchor="t" wrap="square" lIns="228600" tIns="182880" rIns="182880" bIns="91440">
            <a:noAutofit/>
          </a:bodyPr>
          <a:lstStyle/>
          <a:p>
            <a:pPr algn="l">
              <a:spcBef>
                <a:spcPts val="0"/>
              </a:spcBef>
              <a:spcAft>
                <a:spcPts val="800"/>
              </a:spcAft>
            </a:pPr>
            <a:r>
              <a:rPr sz="1700" b="1" i="0">
                <a:solidFill>
                  <a:srgbClr val="014AA0"/>
                </a:solidFill>
                <a:latin typeface="Arial"/>
              </a:rPr>
              <a:t>Giro y uso de sistemas</a:t>
            </a:r>
          </a:p>
          <a:p>
            <a:pPr algn="l" marL="182880" indent="-182880">
              <a:spcBef>
                <a:spcPts val="0"/>
              </a:spcBef>
              <a:spcAft>
                <a:spcPts val="600"/>
              </a:spcAft>
              <a:buClr>
                <a:srgbClr val="014AA0"/>
              </a:buClr>
              <a:buFont typeface="Arial"/>
              <a:buChar char="•"/>
            </a:pPr>
            <a:r>
              <a:rPr sz="1550" b="0" i="0">
                <a:solidFill>
                  <a:srgbClr val="2B2B2B"/>
                </a:solidFill>
                <a:latin typeface="Arial"/>
              </a:rPr>
              <a:t>Vende al detalle carne de res, cerdo, pollo, embutidos y otros productos.</a:t>
            </a:r>
          </a:p>
          <a:p>
            <a:pPr algn="l" marL="182880" indent="-182880">
              <a:spcBef>
                <a:spcPts val="0"/>
              </a:spcBef>
              <a:spcAft>
                <a:spcPts val="0"/>
              </a:spcAft>
              <a:buClr>
                <a:srgbClr val="014AA0"/>
              </a:buClr>
              <a:buFont typeface="Arial"/>
              <a:buChar char="•"/>
            </a:pPr>
            <a:r>
              <a:rPr sz="1550" b="0" i="0">
                <a:solidFill>
                  <a:srgbClr val="2B2B2B"/>
                </a:solidFill>
                <a:latin typeface="Arial"/>
              </a:rPr>
              <a:t>Nivel de uso de sistemas: bajo. La caja solo cobra, el inventario se revisa a ojo, los pedidos van por WhatsApp y las deudas se anotan en un cuaderno.</a:t>
            </a:r>
          </a:p>
        </p:txBody>
      </p:sp>
      <p:sp>
        <p:nvSpPr>
          <p:cNvPr id="549" name="Factores criticos"/>
          <p:cNvSpPr/>
          <p:nvPr/>
        </p:nvSpPr>
        <p:spPr>
          <a:xfrm>
            <a:off x="6217920" y="3383280"/>
            <a:ext cx="4846320" cy="2788920"/>
          </a:xfrm>
          <a:prstGeom prst="rect">
            <a:avLst/>
          </a:prstGeom>
          <a:solidFill>
            <a:srgbClr val="F0F1FA"/>
          </a:solidFill>
          <a:ln>
            <a:noFill/>
          </a:ln>
        </p:spPr>
        <p:txBody>
          <a:bodyPr rtlCol="0" anchor="t" wrap="square" lIns="228600" tIns="182880" rIns="182880" bIns="91440">
            <a:noAutofit/>
          </a:bodyPr>
          <a:lstStyle/>
          <a:p>
            <a:pPr algn="l">
              <a:spcBef>
                <a:spcPts val="0"/>
              </a:spcBef>
              <a:spcAft>
                <a:spcPts val="800"/>
              </a:spcAft>
            </a:pPr>
            <a:r>
              <a:rPr sz="1700" b="1" i="0">
                <a:solidFill>
                  <a:srgbClr val="014AA0"/>
                </a:solidFill>
                <a:latin typeface="Arial"/>
              </a:rPr>
              <a:t>Factores críticos de éxito</a:t>
            </a:r>
          </a:p>
          <a:p>
            <a:pPr algn="l" marL="182880" indent="-182880">
              <a:spcBef>
                <a:spcPts val="0"/>
              </a:spcBef>
              <a:spcAft>
                <a:spcPts val="300"/>
              </a:spcAft>
              <a:buClr>
                <a:srgbClr val="014AA0"/>
              </a:buClr>
              <a:buFont typeface="Arial"/>
              <a:buChar char="•"/>
            </a:pPr>
            <a:r>
              <a:rPr sz="1550" b="0" i="0">
                <a:solidFill>
                  <a:srgbClr val="2B2B2B"/>
                </a:solidFill>
                <a:latin typeface="Arial"/>
              </a:rPr>
              <a:t>Frescura y calidad del producto</a:t>
            </a:r>
          </a:p>
          <a:p>
            <a:pPr algn="l" marL="182880" indent="-182880">
              <a:spcBef>
                <a:spcPts val="0"/>
              </a:spcBef>
              <a:spcAft>
                <a:spcPts val="300"/>
              </a:spcAft>
              <a:buClr>
                <a:srgbClr val="014AA0"/>
              </a:buClr>
              <a:buFont typeface="Arial"/>
              <a:buChar char="•"/>
            </a:pPr>
            <a:r>
              <a:rPr sz="1550" b="0" i="0">
                <a:solidFill>
                  <a:srgbClr val="2B2B2B"/>
                </a:solidFill>
                <a:latin typeface="Arial"/>
              </a:rPr>
              <a:t>Disponibilidad cuando el cliente lo pide</a:t>
            </a:r>
          </a:p>
          <a:p>
            <a:pPr algn="l" marL="182880" indent="-182880">
              <a:spcBef>
                <a:spcPts val="0"/>
              </a:spcBef>
              <a:spcAft>
                <a:spcPts val="300"/>
              </a:spcAft>
              <a:buClr>
                <a:srgbClr val="014AA0"/>
              </a:buClr>
              <a:buFont typeface="Arial"/>
              <a:buChar char="•"/>
            </a:pPr>
            <a:r>
              <a:rPr sz="1550" b="0" i="0">
                <a:solidFill>
                  <a:srgbClr val="2B2B2B"/>
                </a:solidFill>
                <a:latin typeface="Arial"/>
              </a:rPr>
              <a:t>Precio competitivo frente a supermercados</a:t>
            </a:r>
          </a:p>
          <a:p>
            <a:pPr algn="l" marL="182880" indent="-182880">
              <a:spcBef>
                <a:spcPts val="0"/>
              </a:spcBef>
              <a:spcAft>
                <a:spcPts val="300"/>
              </a:spcAft>
              <a:buClr>
                <a:srgbClr val="014AA0"/>
              </a:buClr>
              <a:buFont typeface="Arial"/>
              <a:buChar char="•"/>
            </a:pPr>
            <a:r>
              <a:rPr sz="1550" b="0" i="0">
                <a:solidFill>
                  <a:srgbClr val="2B2B2B"/>
                </a:solidFill>
                <a:latin typeface="Arial"/>
              </a:rPr>
              <a:t>Confianza con clientes y proveedores</a:t>
            </a:r>
          </a:p>
          <a:p>
            <a:pPr algn="l" marL="182880" indent="-182880">
              <a:spcBef>
                <a:spcPts val="0"/>
              </a:spcBef>
              <a:spcAft>
                <a:spcPts val="0"/>
              </a:spcAft>
              <a:buClr>
                <a:srgbClr val="014AA0"/>
              </a:buClr>
              <a:buFont typeface="Arial"/>
              <a:buChar char="•"/>
            </a:pPr>
            <a:r>
              <a:rPr sz="1550" b="0" i="0">
                <a:solidFill>
                  <a:srgbClr val="2B2B2B"/>
                </a:solidFill>
                <a:latin typeface="Arial"/>
              </a:rPr>
              <a:t>Control de pérdidas por producto perecedero</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Cadena de valor</a:t>
            </a:r>
            <a:endParaRPr>
              <a:solidFill>
                <a:srgbClr val="595959"/>
              </a:solidFill>
              <a:latin typeface="Nunito Sans ExtraBold"/>
              <a:ea typeface="Nunito Sans ExtraBold"/>
              <a:cs typeface="Nunito Sans ExtraBold"/>
              <a:sym typeface="Nunito Sans ExtraBold"/>
            </a:endParaRPr>
          </a:p>
        </p:txBody>
      </p:sp>
      <p:sp>
        <p:nvSpPr>
          <p:cNvPr id="544" name="TextBox 543"/>
          <p:cNvSpPr txBox="1"/>
          <p:nvPr/>
        </p:nvSpPr>
        <p:spPr>
          <a:xfrm>
            <a:off x="1097280" y="1417320"/>
            <a:ext cx="4572000" cy="274320"/>
          </a:xfrm>
          <a:prstGeom prst="rect">
            <a:avLst/>
          </a:prstGeom>
          <a:noFill/>
        </p:spPr>
        <p:txBody>
          <a:bodyPr wrap="square" lIns="0" tIns="0" rIns="0" bIns="0" anchor="t">
            <a:noAutofit/>
          </a:bodyPr>
          <a:lstStyle/>
          <a:p>
            <a:pPr algn="l">
              <a:spcBef>
                <a:spcPts val="0"/>
              </a:spcBef>
              <a:spcAft>
                <a:spcPts val="0"/>
              </a:spcAft>
            </a:pPr>
            <a:r>
              <a:rPr sz="1200" b="1" i="0">
                <a:solidFill>
                  <a:srgbClr val="595959"/>
                </a:solidFill>
                <a:latin typeface="Arial"/>
              </a:rPr>
              <a:t>ACTIVIDADES PRIMARIAS</a:t>
            </a:r>
          </a:p>
        </p:txBody>
      </p:sp>
      <p:sp>
        <p:nvSpPr>
          <p:cNvPr id="545" name="Primaria Logística de entrada"/>
          <p:cNvSpPr/>
          <p:nvPr/>
        </p:nvSpPr>
        <p:spPr>
          <a:xfrm>
            <a:off x="1097280" y="1737360"/>
            <a:ext cx="2148840" cy="822960"/>
          </a:xfrm>
          <a:prstGeom prst="homePlate">
            <a:avLst/>
          </a:prstGeom>
          <a:solidFill>
            <a:srgbClr val="014AA0"/>
          </a:solidFill>
          <a:ln>
            <a:noFill/>
          </a:ln>
        </p:spPr>
        <p:txBody>
          <a:bodyPr rtlCol="0" anchor="ctr" wrap="square" lIns="0" tIns="0" rIns="0" bIns="0">
            <a:noAutofit/>
          </a:bodyPr>
          <a:lstStyle/>
          <a:p>
            <a:pPr algn="ctr">
              <a:spcBef>
                <a:spcPts val="0"/>
              </a:spcBef>
              <a:spcAft>
                <a:spcPts val="0"/>
              </a:spcAft>
            </a:pPr>
            <a:r>
              <a:rPr sz="1250" b="1" i="0">
                <a:solidFill>
                  <a:srgbClr val="FFFFFF"/>
                </a:solidFill>
                <a:latin typeface="Arial"/>
              </a:rPr>
              <a:t>Logística de entrada</a:t>
            </a:r>
          </a:p>
        </p:txBody>
      </p:sp>
      <p:sp>
        <p:nvSpPr>
          <p:cNvPr id="546" name="TextBox 545"/>
          <p:cNvSpPr txBox="1"/>
          <p:nvPr/>
        </p:nvSpPr>
        <p:spPr>
          <a:xfrm>
            <a:off x="1188720" y="2651760"/>
            <a:ext cx="1828800" cy="1005840"/>
          </a:xfrm>
          <a:prstGeom prst="rect">
            <a:avLst/>
          </a:prstGeom>
          <a:noFill/>
        </p:spPr>
        <p:txBody>
          <a:bodyPr wrap="square" lIns="45720" tIns="27432" rIns="45720" bIns="0" anchor="t">
            <a:noAutofit/>
          </a:bodyPr>
          <a:lstStyle/>
          <a:p>
            <a:pPr algn="l">
              <a:spcBef>
                <a:spcPts val="0"/>
              </a:spcBef>
              <a:spcAft>
                <a:spcPts val="0"/>
              </a:spcAft>
            </a:pPr>
            <a:r>
              <a:rPr sz="1400" b="0" i="0">
                <a:solidFill>
                  <a:srgbClr val="2B2B2B"/>
                </a:solidFill>
                <a:latin typeface="Arial"/>
              </a:rPr>
              <a:t>Pedido a proveedores y recepción</a:t>
            </a:r>
          </a:p>
        </p:txBody>
      </p:sp>
      <p:sp>
        <p:nvSpPr>
          <p:cNvPr id="547" name="Primaria Operaciones"/>
          <p:cNvSpPr/>
          <p:nvPr/>
        </p:nvSpPr>
        <p:spPr>
          <a:xfrm>
            <a:off x="3054096" y="1737360"/>
            <a:ext cx="2148840" cy="822960"/>
          </a:xfrm>
          <a:prstGeom prst="chevron">
            <a:avLst/>
          </a:prstGeom>
          <a:solidFill>
            <a:srgbClr val="014AA0"/>
          </a:solidFill>
          <a:ln>
            <a:noFill/>
          </a:ln>
        </p:spPr>
        <p:txBody>
          <a:bodyPr rtlCol="0" anchor="ctr" wrap="square" lIns="0" tIns="0" rIns="0" bIns="0">
            <a:noAutofit/>
          </a:bodyPr>
          <a:lstStyle/>
          <a:p>
            <a:pPr algn="ctr">
              <a:spcBef>
                <a:spcPts val="0"/>
              </a:spcBef>
              <a:spcAft>
                <a:spcPts val="0"/>
              </a:spcAft>
            </a:pPr>
            <a:r>
              <a:rPr sz="1250" b="1" i="0">
                <a:solidFill>
                  <a:srgbClr val="FFFFFF"/>
                </a:solidFill>
                <a:latin typeface="Arial"/>
              </a:rPr>
              <a:t>Operaciones</a:t>
            </a:r>
          </a:p>
        </p:txBody>
      </p:sp>
      <p:sp>
        <p:nvSpPr>
          <p:cNvPr id="548" name="TextBox 547"/>
          <p:cNvSpPr txBox="1"/>
          <p:nvPr/>
        </p:nvSpPr>
        <p:spPr>
          <a:xfrm>
            <a:off x="3145536" y="2651760"/>
            <a:ext cx="1828800" cy="1005840"/>
          </a:xfrm>
          <a:prstGeom prst="rect">
            <a:avLst/>
          </a:prstGeom>
          <a:noFill/>
        </p:spPr>
        <p:txBody>
          <a:bodyPr wrap="square" lIns="45720" tIns="27432" rIns="45720" bIns="0" anchor="t">
            <a:noAutofit/>
          </a:bodyPr>
          <a:lstStyle/>
          <a:p>
            <a:pPr algn="l">
              <a:spcBef>
                <a:spcPts val="0"/>
              </a:spcBef>
              <a:spcAft>
                <a:spcPts val="0"/>
              </a:spcAft>
            </a:pPr>
            <a:r>
              <a:rPr sz="1400" b="0" i="0">
                <a:solidFill>
                  <a:srgbClr val="2B2B2B"/>
                </a:solidFill>
                <a:latin typeface="Arial"/>
              </a:rPr>
              <a:t>Almacenamiento en frío y preparación de cortes</a:t>
            </a:r>
          </a:p>
        </p:txBody>
      </p:sp>
      <p:sp>
        <p:nvSpPr>
          <p:cNvPr id="549" name="Primaria Logística de salida"/>
          <p:cNvSpPr/>
          <p:nvPr/>
        </p:nvSpPr>
        <p:spPr>
          <a:xfrm>
            <a:off x="5010912" y="1737360"/>
            <a:ext cx="2148840" cy="822960"/>
          </a:xfrm>
          <a:prstGeom prst="chevron">
            <a:avLst/>
          </a:prstGeom>
          <a:solidFill>
            <a:srgbClr val="014AA0"/>
          </a:solidFill>
          <a:ln>
            <a:noFill/>
          </a:ln>
        </p:spPr>
        <p:txBody>
          <a:bodyPr rtlCol="0" anchor="ctr" wrap="square" lIns="0" tIns="0" rIns="0" bIns="0">
            <a:noAutofit/>
          </a:bodyPr>
          <a:lstStyle/>
          <a:p>
            <a:pPr algn="ctr">
              <a:spcBef>
                <a:spcPts val="0"/>
              </a:spcBef>
              <a:spcAft>
                <a:spcPts val="0"/>
              </a:spcAft>
            </a:pPr>
            <a:r>
              <a:rPr sz="1250" b="1" i="0">
                <a:solidFill>
                  <a:srgbClr val="FFFFFF"/>
                </a:solidFill>
                <a:latin typeface="Arial"/>
              </a:rPr>
              <a:t>Logística de salida</a:t>
            </a:r>
          </a:p>
        </p:txBody>
      </p:sp>
      <p:sp>
        <p:nvSpPr>
          <p:cNvPr id="550" name="TextBox 549"/>
          <p:cNvSpPr txBox="1"/>
          <p:nvPr/>
        </p:nvSpPr>
        <p:spPr>
          <a:xfrm>
            <a:off x="5102352" y="2651760"/>
            <a:ext cx="1828800" cy="1005840"/>
          </a:xfrm>
          <a:prstGeom prst="rect">
            <a:avLst/>
          </a:prstGeom>
          <a:noFill/>
        </p:spPr>
        <p:txBody>
          <a:bodyPr wrap="square" lIns="45720" tIns="27432" rIns="45720" bIns="0" anchor="t">
            <a:noAutofit/>
          </a:bodyPr>
          <a:lstStyle/>
          <a:p>
            <a:pPr algn="l">
              <a:spcBef>
                <a:spcPts val="0"/>
              </a:spcBef>
              <a:spcAft>
                <a:spcPts val="0"/>
              </a:spcAft>
            </a:pPr>
            <a:r>
              <a:rPr sz="1400" b="0" i="0">
                <a:solidFill>
                  <a:srgbClr val="2B2B2B"/>
                </a:solidFill>
                <a:latin typeface="Arial"/>
              </a:rPr>
              <a:t>Exhibición, pesaje y empaque</a:t>
            </a:r>
          </a:p>
        </p:txBody>
      </p:sp>
      <p:sp>
        <p:nvSpPr>
          <p:cNvPr id="551" name="Primaria Marketing y ventas"/>
          <p:cNvSpPr/>
          <p:nvPr/>
        </p:nvSpPr>
        <p:spPr>
          <a:xfrm>
            <a:off x="6967728" y="1737360"/>
            <a:ext cx="2148840" cy="822960"/>
          </a:xfrm>
          <a:prstGeom prst="chevron">
            <a:avLst/>
          </a:prstGeom>
          <a:solidFill>
            <a:srgbClr val="014AA0"/>
          </a:solidFill>
          <a:ln>
            <a:noFill/>
          </a:ln>
        </p:spPr>
        <p:txBody>
          <a:bodyPr rtlCol="0" anchor="ctr" wrap="square" lIns="0" tIns="0" rIns="0" bIns="0">
            <a:noAutofit/>
          </a:bodyPr>
          <a:lstStyle/>
          <a:p>
            <a:pPr algn="ctr">
              <a:spcBef>
                <a:spcPts val="0"/>
              </a:spcBef>
              <a:spcAft>
                <a:spcPts val="0"/>
              </a:spcAft>
            </a:pPr>
            <a:r>
              <a:rPr sz="1250" b="1" i="0">
                <a:solidFill>
                  <a:srgbClr val="FFFFFF"/>
                </a:solidFill>
                <a:latin typeface="Arial"/>
              </a:rPr>
              <a:t>Marketing y ventas</a:t>
            </a:r>
          </a:p>
        </p:txBody>
      </p:sp>
      <p:sp>
        <p:nvSpPr>
          <p:cNvPr id="552" name="TextBox 551"/>
          <p:cNvSpPr txBox="1"/>
          <p:nvPr/>
        </p:nvSpPr>
        <p:spPr>
          <a:xfrm>
            <a:off x="7059168" y="2651760"/>
            <a:ext cx="1828800" cy="1005840"/>
          </a:xfrm>
          <a:prstGeom prst="rect">
            <a:avLst/>
          </a:prstGeom>
          <a:noFill/>
        </p:spPr>
        <p:txBody>
          <a:bodyPr wrap="square" lIns="45720" tIns="27432" rIns="45720" bIns="0" anchor="t">
            <a:noAutofit/>
          </a:bodyPr>
          <a:lstStyle/>
          <a:p>
            <a:pPr algn="l">
              <a:spcBef>
                <a:spcPts val="0"/>
              </a:spcBef>
              <a:spcAft>
                <a:spcPts val="0"/>
              </a:spcAft>
            </a:pPr>
            <a:r>
              <a:rPr sz="1400" b="0" i="0">
                <a:solidFill>
                  <a:srgbClr val="2B2B2B"/>
                </a:solidFill>
                <a:latin typeface="Arial"/>
              </a:rPr>
              <a:t>Atención en mostrador, precios y venta a crédito</a:t>
            </a:r>
          </a:p>
        </p:txBody>
      </p:sp>
      <p:sp>
        <p:nvSpPr>
          <p:cNvPr id="553" name="Primaria Posventa"/>
          <p:cNvSpPr/>
          <p:nvPr/>
        </p:nvSpPr>
        <p:spPr>
          <a:xfrm>
            <a:off x="8924544" y="1737360"/>
            <a:ext cx="2148840" cy="822960"/>
          </a:xfrm>
          <a:prstGeom prst="chevron">
            <a:avLst/>
          </a:prstGeom>
          <a:solidFill>
            <a:srgbClr val="014AA0"/>
          </a:solidFill>
          <a:ln>
            <a:noFill/>
          </a:ln>
        </p:spPr>
        <p:txBody>
          <a:bodyPr rtlCol="0" anchor="ctr" wrap="square" lIns="0" tIns="0" rIns="0" bIns="0">
            <a:noAutofit/>
          </a:bodyPr>
          <a:lstStyle/>
          <a:p>
            <a:pPr algn="ctr">
              <a:spcBef>
                <a:spcPts val="0"/>
              </a:spcBef>
              <a:spcAft>
                <a:spcPts val="0"/>
              </a:spcAft>
            </a:pPr>
            <a:r>
              <a:rPr sz="1250" b="1" i="0">
                <a:solidFill>
                  <a:srgbClr val="FFFFFF"/>
                </a:solidFill>
                <a:latin typeface="Arial"/>
              </a:rPr>
              <a:t>Posventa</a:t>
            </a:r>
          </a:p>
        </p:txBody>
      </p:sp>
      <p:sp>
        <p:nvSpPr>
          <p:cNvPr id="554" name="TextBox 553"/>
          <p:cNvSpPr txBox="1"/>
          <p:nvPr/>
        </p:nvSpPr>
        <p:spPr>
          <a:xfrm>
            <a:off x="9015984" y="2651760"/>
            <a:ext cx="1828800" cy="1005840"/>
          </a:xfrm>
          <a:prstGeom prst="rect">
            <a:avLst/>
          </a:prstGeom>
          <a:noFill/>
        </p:spPr>
        <p:txBody>
          <a:bodyPr wrap="square" lIns="45720" tIns="27432" rIns="45720" bIns="0" anchor="t">
            <a:noAutofit/>
          </a:bodyPr>
          <a:lstStyle/>
          <a:p>
            <a:pPr algn="l">
              <a:spcBef>
                <a:spcPts val="0"/>
              </a:spcBef>
              <a:spcAft>
                <a:spcPts val="0"/>
              </a:spcAft>
            </a:pPr>
            <a:r>
              <a:rPr sz="1400" b="0" i="0">
                <a:solidFill>
                  <a:srgbClr val="2B2B2B"/>
                </a:solidFill>
                <a:latin typeface="Arial"/>
              </a:rPr>
              <a:t>Trato directo y cobro de cuentas pendientes</a:t>
            </a:r>
          </a:p>
        </p:txBody>
      </p:sp>
      <p:sp>
        <p:nvSpPr>
          <p:cNvPr id="555" name="TextBox 554"/>
          <p:cNvSpPr txBox="1"/>
          <p:nvPr/>
        </p:nvSpPr>
        <p:spPr>
          <a:xfrm>
            <a:off x="1097280" y="3749039"/>
            <a:ext cx="4572000" cy="274320"/>
          </a:xfrm>
          <a:prstGeom prst="rect">
            <a:avLst/>
          </a:prstGeom>
          <a:noFill/>
        </p:spPr>
        <p:txBody>
          <a:bodyPr wrap="square" lIns="0" tIns="0" rIns="0" bIns="0" anchor="t">
            <a:noAutofit/>
          </a:bodyPr>
          <a:lstStyle/>
          <a:p>
            <a:pPr algn="l">
              <a:spcBef>
                <a:spcPts val="0"/>
              </a:spcBef>
              <a:spcAft>
                <a:spcPts val="0"/>
              </a:spcAft>
            </a:pPr>
            <a:r>
              <a:rPr sz="1200" b="1" i="0">
                <a:solidFill>
                  <a:srgbClr val="595959"/>
                </a:solidFill>
                <a:latin typeface="Arial"/>
              </a:rPr>
              <a:t>ACTIVIDADES DE APOYO</a:t>
            </a:r>
          </a:p>
        </p:txBody>
      </p:sp>
      <p:sp>
        <p:nvSpPr>
          <p:cNvPr id="556" name="Apoyo Infraestructura"/>
          <p:cNvSpPr/>
          <p:nvPr/>
        </p:nvSpPr>
        <p:spPr>
          <a:xfrm>
            <a:off x="1097280" y="4069080"/>
            <a:ext cx="2331720" cy="1600200"/>
          </a:xfrm>
          <a:prstGeom prst="rect">
            <a:avLst/>
          </a:prstGeom>
          <a:solidFill>
            <a:srgbClr val="F0F1FA"/>
          </a:solidFill>
          <a:ln>
            <a:noFill/>
          </a:ln>
        </p:spPr>
        <p:txBody>
          <a:bodyPr rtlCol="0" anchor="t" wrap="square" lIns="182880" tIns="164592" rIns="137160" bIns="91440">
            <a:noAutofit/>
          </a:bodyPr>
          <a:lstStyle/>
          <a:p>
            <a:pPr algn="l">
              <a:spcBef>
                <a:spcPts val="0"/>
              </a:spcBef>
              <a:spcAft>
                <a:spcPts val="500"/>
              </a:spcAft>
            </a:pPr>
            <a:r>
              <a:rPr sz="1600" b="1" i="0">
                <a:solidFill>
                  <a:srgbClr val="2B2B2B"/>
                </a:solidFill>
                <a:latin typeface="Arial"/>
              </a:rPr>
              <a:t>Infraestructura</a:t>
            </a:r>
          </a:p>
          <a:p>
            <a:pPr algn="l">
              <a:spcBef>
                <a:spcPts val="0"/>
              </a:spcBef>
              <a:spcAft>
                <a:spcPts val="0"/>
              </a:spcAft>
            </a:pPr>
            <a:r>
              <a:rPr sz="1400" b="0" i="0">
                <a:solidFill>
                  <a:srgbClr val="2B2B2B"/>
                </a:solidFill>
                <a:latin typeface="Arial"/>
              </a:rPr>
              <a:t>Administración familiar, permisos y control del dinero</a:t>
            </a:r>
          </a:p>
        </p:txBody>
      </p:sp>
      <p:sp>
        <p:nvSpPr>
          <p:cNvPr id="557" name="Apoyo Recursos humanos"/>
          <p:cNvSpPr/>
          <p:nvPr/>
        </p:nvSpPr>
        <p:spPr>
          <a:xfrm>
            <a:off x="3639311" y="4069080"/>
            <a:ext cx="2331720" cy="1600200"/>
          </a:xfrm>
          <a:prstGeom prst="rect">
            <a:avLst/>
          </a:prstGeom>
          <a:solidFill>
            <a:srgbClr val="F0F1FA"/>
          </a:solidFill>
          <a:ln>
            <a:noFill/>
          </a:ln>
        </p:spPr>
        <p:txBody>
          <a:bodyPr rtlCol="0" anchor="t" wrap="square" lIns="182880" tIns="164592" rIns="137160" bIns="91440">
            <a:noAutofit/>
          </a:bodyPr>
          <a:lstStyle/>
          <a:p>
            <a:pPr algn="l">
              <a:spcBef>
                <a:spcPts val="0"/>
              </a:spcBef>
              <a:spcAft>
                <a:spcPts val="500"/>
              </a:spcAft>
            </a:pPr>
            <a:r>
              <a:rPr sz="1600" b="1" i="0">
                <a:solidFill>
                  <a:srgbClr val="2B2B2B"/>
                </a:solidFill>
                <a:latin typeface="Arial"/>
              </a:rPr>
              <a:t>Recursos humanos</a:t>
            </a:r>
          </a:p>
          <a:p>
            <a:pPr algn="l">
              <a:spcBef>
                <a:spcPts val="0"/>
              </a:spcBef>
              <a:spcAft>
                <a:spcPts val="0"/>
              </a:spcAft>
            </a:pPr>
            <a:r>
              <a:rPr sz="1400" b="0" i="0">
                <a:solidFill>
                  <a:srgbClr val="2B2B2B"/>
                </a:solidFill>
                <a:latin typeface="Arial"/>
              </a:rPr>
              <a:t>Tres personas: dos dueños y una colaboradora</a:t>
            </a:r>
          </a:p>
        </p:txBody>
      </p:sp>
      <p:sp>
        <p:nvSpPr>
          <p:cNvPr id="558" name="Apoyo Tecnología"/>
          <p:cNvSpPr/>
          <p:nvPr/>
        </p:nvSpPr>
        <p:spPr>
          <a:xfrm>
            <a:off x="6181344" y="4069080"/>
            <a:ext cx="2331720" cy="1600200"/>
          </a:xfrm>
          <a:prstGeom prst="rect">
            <a:avLst/>
          </a:prstGeom>
          <a:solidFill>
            <a:srgbClr val="FF8303"/>
          </a:solidFill>
          <a:ln>
            <a:noFill/>
          </a:ln>
        </p:spPr>
        <p:txBody>
          <a:bodyPr rtlCol="0" anchor="t" wrap="square" lIns="182880" tIns="164592" rIns="137160" bIns="91440">
            <a:noAutofit/>
          </a:bodyPr>
          <a:lstStyle/>
          <a:p>
            <a:pPr algn="l">
              <a:spcBef>
                <a:spcPts val="0"/>
              </a:spcBef>
              <a:spcAft>
                <a:spcPts val="500"/>
              </a:spcAft>
            </a:pPr>
            <a:r>
              <a:rPr sz="1600" b="1" i="0">
                <a:solidFill>
                  <a:srgbClr val="2B2B2B"/>
                </a:solidFill>
                <a:latin typeface="Arial"/>
              </a:rPr>
              <a:t>Tecnología</a:t>
            </a:r>
          </a:p>
          <a:p>
            <a:pPr algn="l">
              <a:spcBef>
                <a:spcPts val="0"/>
              </a:spcBef>
              <a:spcAft>
                <a:spcPts val="0"/>
              </a:spcAft>
            </a:pPr>
            <a:r>
              <a:rPr sz="1400" b="0" i="0">
                <a:solidFill>
                  <a:srgbClr val="2B2B2B"/>
                </a:solidFill>
                <a:latin typeface="Arial"/>
              </a:rPr>
              <a:t>Hoy: WhatsApp, llamadas y cuaderno. Aquí está la oportunidad</a:t>
            </a:r>
          </a:p>
        </p:txBody>
      </p:sp>
      <p:sp>
        <p:nvSpPr>
          <p:cNvPr id="559" name="Apoyo Abastecimiento"/>
          <p:cNvSpPr/>
          <p:nvPr/>
        </p:nvSpPr>
        <p:spPr>
          <a:xfrm>
            <a:off x="8723376" y="4069080"/>
            <a:ext cx="2331720" cy="1600200"/>
          </a:xfrm>
          <a:prstGeom prst="rect">
            <a:avLst/>
          </a:prstGeom>
          <a:solidFill>
            <a:srgbClr val="F0F1FA"/>
          </a:solidFill>
          <a:ln>
            <a:noFill/>
          </a:ln>
        </p:spPr>
        <p:txBody>
          <a:bodyPr rtlCol="0" anchor="t" wrap="square" lIns="182880" tIns="164592" rIns="137160" bIns="91440">
            <a:noAutofit/>
          </a:bodyPr>
          <a:lstStyle/>
          <a:p>
            <a:pPr algn="l">
              <a:spcBef>
                <a:spcPts val="0"/>
              </a:spcBef>
              <a:spcAft>
                <a:spcPts val="500"/>
              </a:spcAft>
            </a:pPr>
            <a:r>
              <a:rPr sz="1600" b="1" i="0">
                <a:solidFill>
                  <a:srgbClr val="2B2B2B"/>
                </a:solidFill>
                <a:latin typeface="Arial"/>
              </a:rPr>
              <a:t>Abastecimiento</a:t>
            </a:r>
          </a:p>
          <a:p>
            <a:pPr algn="l">
              <a:spcBef>
                <a:spcPts val="0"/>
              </a:spcBef>
              <a:spcAft>
                <a:spcPts val="0"/>
              </a:spcAft>
            </a:pPr>
            <a:r>
              <a:rPr sz="1400" b="0" i="0">
                <a:solidFill>
                  <a:srgbClr val="2B2B2B"/>
                </a:solidFill>
                <a:latin typeface="Arial"/>
              </a:rPr>
              <a:t>Selección de proveedores, pedidos y pagos</a:t>
            </a:r>
          </a:p>
        </p:txBody>
      </p:sp>
      <p:sp>
        <p:nvSpPr>
          <p:cNvPr id="560" name="TextBox 559"/>
          <p:cNvSpPr txBox="1"/>
          <p:nvPr/>
        </p:nvSpPr>
        <p:spPr>
          <a:xfrm>
            <a:off x="1097280" y="5852160"/>
            <a:ext cx="9966960" cy="365760"/>
          </a:xfrm>
          <a:prstGeom prst="rect">
            <a:avLst/>
          </a:prstGeom>
          <a:noFill/>
        </p:spPr>
        <p:txBody>
          <a:bodyPr wrap="square" lIns="0" tIns="0" rIns="0" bIns="0" anchor="t">
            <a:noAutofit/>
          </a:bodyPr>
          <a:lstStyle/>
          <a:p>
            <a:pPr algn="l">
              <a:spcBef>
                <a:spcPts val="0"/>
              </a:spcBef>
              <a:spcAft>
                <a:spcPts val="0"/>
              </a:spcAft>
            </a:pPr>
            <a:r>
              <a:rPr sz="1400" b="0" i="1">
                <a:solidFill>
                  <a:srgbClr val="595959"/>
                </a:solidFill>
                <a:latin typeface="Arial"/>
              </a:rPr>
              <a:t>La tecnología es la actividad de apoyo con mayor oportunidad de mejora.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El problema: no hay registros organizados</a:t>
            </a:r>
            <a:endParaRPr>
              <a:solidFill>
                <a:srgbClr val="595959"/>
              </a:solidFill>
              <a:latin typeface="Nunito Sans ExtraBold"/>
              <a:ea typeface="Nunito Sans ExtraBold"/>
              <a:cs typeface="Nunito Sans ExtraBold"/>
              <a:sym typeface="Nunito Sans ExtraBold"/>
            </a:endParaRPr>
          </a:p>
        </p:txBody>
      </p:sp>
      <p:sp>
        <p:nvSpPr>
          <p:cNvPr id="544" name="Tarjeta Inventario"/>
          <p:cNvSpPr/>
          <p:nvPr/>
        </p:nvSpPr>
        <p:spPr>
          <a:xfrm>
            <a:off x="1097280" y="1508760"/>
            <a:ext cx="2331720" cy="3520440"/>
          </a:xfrm>
          <a:prstGeom prst="rect">
            <a:avLst/>
          </a:prstGeom>
          <a:solidFill>
            <a:srgbClr val="F0F1FA"/>
          </a:solidFill>
          <a:ln>
            <a:noFill/>
          </a:ln>
        </p:spPr>
        <p:txBody>
          <a:bodyPr rtlCol="0" anchor="t" wrap="square" lIns="73152" rIns="73152">
            <a:noAutofit/>
          </a:bodyPr>
          <a:lstStyle/>
          <a:p>
            <a:pPr algn="ctr"/>
          </a:p>
        </p:txBody>
      </p:sp>
      <p:sp>
        <p:nvSpPr>
          <p:cNvPr id="545" name="Circulo inv"/>
          <p:cNvSpPr/>
          <p:nvPr/>
        </p:nvSpPr>
        <p:spPr>
          <a:xfrm>
            <a:off x="1805939" y="1783080"/>
            <a:ext cx="914400" cy="914400"/>
          </a:xfrm>
          <a:prstGeom prst="ellipse">
            <a:avLst/>
          </a:prstGeom>
          <a:solidFill>
            <a:srgbClr val="014AA0"/>
          </a:solidFill>
          <a:ln>
            <a:noFill/>
          </a:ln>
        </p:spPr>
        <p:txBody>
          <a:bodyPr rtlCol="0" anchor="ctr"/>
          <a:lstStyle/>
          <a:p>
            <a:pPr algn="ctr"/>
          </a:p>
        </p:txBody>
      </p:sp>
      <p:pic>
        <p:nvPicPr>
          <p:cNvPr id="546" name="Picture 545" descr=""/>
          <p:cNvPicPr>
            <a:picLocks noChangeAspect="1"/>
          </p:cNvPicPr>
          <p:nvPr/>
        </p:nvPicPr>
        <p:blipFill>
          <a:blip r:embed="rId2"/>
          <a:stretch>
            <a:fillRect/>
          </a:stretch>
        </p:blipFill>
        <p:spPr>
          <a:xfrm>
            <a:off x="2034539" y="2011680"/>
            <a:ext cx="457200" cy="457200"/>
          </a:xfrm>
          <a:prstGeom prst="rect">
            <a:avLst/>
          </a:prstGeom>
        </p:spPr>
      </p:pic>
      <p:sp>
        <p:nvSpPr>
          <p:cNvPr id="547" name="TextBox 546"/>
          <p:cNvSpPr txBox="1"/>
          <p:nvPr/>
        </p:nvSpPr>
        <p:spPr>
          <a:xfrm>
            <a:off x="1188720" y="2880360"/>
            <a:ext cx="2148840" cy="2194560"/>
          </a:xfrm>
          <a:prstGeom prst="rect">
            <a:avLst/>
          </a:prstGeom>
          <a:noFill/>
        </p:spPr>
        <p:txBody>
          <a:bodyPr wrap="square" anchor="t">
            <a:noAutofit/>
          </a:bodyPr>
          <a:lstStyle/>
          <a:p>
            <a:pPr algn="ctr">
              <a:spcBef>
                <a:spcPts val="0"/>
              </a:spcBef>
              <a:spcAft>
                <a:spcPts val="600"/>
              </a:spcAft>
            </a:pPr>
            <a:r>
              <a:rPr sz="1700" b="1" i="0">
                <a:solidFill>
                  <a:srgbClr val="014AA0"/>
                </a:solidFill>
                <a:latin typeface="Arial"/>
              </a:rPr>
              <a:t>Inventario</a:t>
            </a:r>
          </a:p>
          <a:p>
            <a:pPr algn="ctr">
              <a:spcBef>
                <a:spcPts val="0"/>
              </a:spcBef>
              <a:spcAft>
                <a:spcPts val="0"/>
              </a:spcAft>
            </a:pPr>
            <a:r>
              <a:rPr sz="1400" b="0" i="0">
                <a:solidFill>
                  <a:srgbClr val="2B2B2B"/>
                </a:solidFill>
                <a:latin typeface="Arial"/>
              </a:rPr>
              <a:t>Se revisa a ojo y por experiencia. No hay cantidades registradas.</a:t>
            </a:r>
          </a:p>
        </p:txBody>
      </p:sp>
      <p:sp>
        <p:nvSpPr>
          <p:cNvPr id="548" name="Tarjeta Ventas"/>
          <p:cNvSpPr/>
          <p:nvPr/>
        </p:nvSpPr>
        <p:spPr>
          <a:xfrm>
            <a:off x="3639311" y="1508760"/>
            <a:ext cx="2331720" cy="3520440"/>
          </a:xfrm>
          <a:prstGeom prst="rect">
            <a:avLst/>
          </a:prstGeom>
          <a:solidFill>
            <a:srgbClr val="F0F1FA"/>
          </a:solidFill>
          <a:ln>
            <a:noFill/>
          </a:ln>
        </p:spPr>
        <p:txBody>
          <a:bodyPr rtlCol="0" anchor="t" wrap="square" lIns="73152" rIns="73152">
            <a:noAutofit/>
          </a:bodyPr>
          <a:lstStyle/>
          <a:p>
            <a:pPr algn="ctr"/>
          </a:p>
        </p:txBody>
      </p:sp>
      <p:sp>
        <p:nvSpPr>
          <p:cNvPr id="549" name="Circulo cash"/>
          <p:cNvSpPr/>
          <p:nvPr/>
        </p:nvSpPr>
        <p:spPr>
          <a:xfrm>
            <a:off x="4347971" y="1783080"/>
            <a:ext cx="914400" cy="914400"/>
          </a:xfrm>
          <a:prstGeom prst="ellipse">
            <a:avLst/>
          </a:prstGeom>
          <a:solidFill>
            <a:srgbClr val="FF8303"/>
          </a:solidFill>
          <a:ln>
            <a:noFill/>
          </a:ln>
        </p:spPr>
        <p:txBody>
          <a:bodyPr rtlCol="0" anchor="ctr"/>
          <a:lstStyle/>
          <a:p>
            <a:pPr algn="ctr"/>
          </a:p>
        </p:txBody>
      </p:sp>
      <p:pic>
        <p:nvPicPr>
          <p:cNvPr id="550" name="Picture 549" descr=""/>
          <p:cNvPicPr>
            <a:picLocks noChangeAspect="1"/>
          </p:cNvPicPr>
          <p:nvPr/>
        </p:nvPicPr>
        <p:blipFill>
          <a:blip r:embed="rId4"/>
          <a:stretch>
            <a:fillRect/>
          </a:stretch>
        </p:blipFill>
        <p:spPr>
          <a:xfrm>
            <a:off x="4576571" y="2011680"/>
            <a:ext cx="457200" cy="457200"/>
          </a:xfrm>
          <a:prstGeom prst="rect">
            <a:avLst/>
          </a:prstGeom>
        </p:spPr>
      </p:pic>
      <p:sp>
        <p:nvSpPr>
          <p:cNvPr id="551" name="TextBox 550"/>
          <p:cNvSpPr txBox="1"/>
          <p:nvPr/>
        </p:nvSpPr>
        <p:spPr>
          <a:xfrm>
            <a:off x="3730751" y="2880360"/>
            <a:ext cx="2148840" cy="2194560"/>
          </a:xfrm>
          <a:prstGeom prst="rect">
            <a:avLst/>
          </a:prstGeom>
          <a:noFill/>
        </p:spPr>
        <p:txBody>
          <a:bodyPr wrap="square" anchor="t">
            <a:noAutofit/>
          </a:bodyPr>
          <a:lstStyle/>
          <a:p>
            <a:pPr algn="ctr">
              <a:spcBef>
                <a:spcPts val="0"/>
              </a:spcBef>
              <a:spcAft>
                <a:spcPts val="600"/>
              </a:spcAft>
            </a:pPr>
            <a:r>
              <a:rPr sz="1700" b="1" i="0">
                <a:solidFill>
                  <a:srgbClr val="014AA0"/>
                </a:solidFill>
                <a:latin typeface="Arial"/>
              </a:rPr>
              <a:t>Ventas</a:t>
            </a:r>
          </a:p>
          <a:p>
            <a:pPr algn="ctr">
              <a:spcBef>
                <a:spcPts val="0"/>
              </a:spcBef>
              <a:spcAft>
                <a:spcPts val="0"/>
              </a:spcAft>
            </a:pPr>
            <a:r>
              <a:rPr sz="1400" b="0" i="0">
                <a:solidFill>
                  <a:srgbClr val="2B2B2B"/>
                </a:solidFill>
                <a:latin typeface="Arial"/>
              </a:rPr>
              <a:t>La caja solo cobra. No queda detalle ni conteo de ventas por día.</a:t>
            </a:r>
          </a:p>
        </p:txBody>
      </p:sp>
      <p:sp>
        <p:nvSpPr>
          <p:cNvPr id="552" name="Tarjeta Pedidos y recepción"/>
          <p:cNvSpPr/>
          <p:nvPr/>
        </p:nvSpPr>
        <p:spPr>
          <a:xfrm>
            <a:off x="6181344" y="1508760"/>
            <a:ext cx="2331720" cy="3520440"/>
          </a:xfrm>
          <a:prstGeom prst="rect">
            <a:avLst/>
          </a:prstGeom>
          <a:solidFill>
            <a:srgbClr val="F0F1FA"/>
          </a:solidFill>
          <a:ln>
            <a:noFill/>
          </a:ln>
        </p:spPr>
        <p:txBody>
          <a:bodyPr rtlCol="0" anchor="t" wrap="square" lIns="73152" rIns="73152">
            <a:noAutofit/>
          </a:bodyPr>
          <a:lstStyle/>
          <a:p>
            <a:pPr algn="ctr"/>
          </a:p>
        </p:txBody>
      </p:sp>
      <p:sp>
        <p:nvSpPr>
          <p:cNvPr id="553" name="Circulo wa"/>
          <p:cNvSpPr/>
          <p:nvPr/>
        </p:nvSpPr>
        <p:spPr>
          <a:xfrm>
            <a:off x="6890004" y="1783080"/>
            <a:ext cx="914400" cy="914400"/>
          </a:xfrm>
          <a:prstGeom prst="ellipse">
            <a:avLst/>
          </a:prstGeom>
          <a:solidFill>
            <a:srgbClr val="595959"/>
          </a:solidFill>
          <a:ln>
            <a:noFill/>
          </a:ln>
        </p:spPr>
        <p:txBody>
          <a:bodyPr rtlCol="0" anchor="ctr"/>
          <a:lstStyle/>
          <a:p>
            <a:pPr algn="ctr"/>
          </a:p>
        </p:txBody>
      </p:sp>
      <p:pic>
        <p:nvPicPr>
          <p:cNvPr id="554" name="Picture 553" descr=""/>
          <p:cNvPicPr>
            <a:picLocks noChangeAspect="1"/>
          </p:cNvPicPr>
          <p:nvPr/>
        </p:nvPicPr>
        <p:blipFill>
          <a:blip r:embed="rId5"/>
          <a:stretch>
            <a:fillRect/>
          </a:stretch>
        </p:blipFill>
        <p:spPr>
          <a:xfrm>
            <a:off x="7118604" y="2011680"/>
            <a:ext cx="457200" cy="457200"/>
          </a:xfrm>
          <a:prstGeom prst="rect">
            <a:avLst/>
          </a:prstGeom>
        </p:spPr>
      </p:pic>
      <p:sp>
        <p:nvSpPr>
          <p:cNvPr id="555" name="TextBox 554"/>
          <p:cNvSpPr txBox="1"/>
          <p:nvPr/>
        </p:nvSpPr>
        <p:spPr>
          <a:xfrm>
            <a:off x="6272783" y="2880360"/>
            <a:ext cx="2148840" cy="2194560"/>
          </a:xfrm>
          <a:prstGeom prst="rect">
            <a:avLst/>
          </a:prstGeom>
          <a:noFill/>
        </p:spPr>
        <p:txBody>
          <a:bodyPr wrap="square" anchor="t">
            <a:noAutofit/>
          </a:bodyPr>
          <a:lstStyle/>
          <a:p>
            <a:pPr algn="ctr">
              <a:spcBef>
                <a:spcPts val="0"/>
              </a:spcBef>
              <a:spcAft>
                <a:spcPts val="600"/>
              </a:spcAft>
            </a:pPr>
            <a:r>
              <a:rPr sz="1700" b="1" i="0">
                <a:solidFill>
                  <a:srgbClr val="014AA0"/>
                </a:solidFill>
                <a:latin typeface="Arial"/>
              </a:rPr>
              <a:t>Pedidos y recepción</a:t>
            </a:r>
          </a:p>
          <a:p>
            <a:pPr algn="ctr">
              <a:spcBef>
                <a:spcPts val="0"/>
              </a:spcBef>
              <a:spcAft>
                <a:spcPts val="0"/>
              </a:spcAft>
            </a:pPr>
            <a:r>
              <a:rPr sz="1400" b="0" i="0">
                <a:solidFill>
                  <a:srgbClr val="2B2B2B"/>
                </a:solidFill>
                <a:latin typeface="Arial"/>
              </a:rPr>
              <a:t>Los pedidos van por WhatsApp. A veces llega menos de lo esperado y no queda registro.</a:t>
            </a:r>
          </a:p>
        </p:txBody>
      </p:sp>
      <p:sp>
        <p:nvSpPr>
          <p:cNvPr id="556" name="Tarjeta Cuentas por cobrar"/>
          <p:cNvSpPr/>
          <p:nvPr/>
        </p:nvSpPr>
        <p:spPr>
          <a:xfrm>
            <a:off x="8723376" y="1508760"/>
            <a:ext cx="2331720" cy="3520440"/>
          </a:xfrm>
          <a:prstGeom prst="rect">
            <a:avLst/>
          </a:prstGeom>
          <a:solidFill>
            <a:srgbClr val="F0F1FA"/>
          </a:solidFill>
          <a:ln>
            <a:noFill/>
          </a:ln>
        </p:spPr>
        <p:txBody>
          <a:bodyPr rtlCol="0" anchor="t" wrap="square" lIns="73152" rIns="73152">
            <a:noAutofit/>
          </a:bodyPr>
          <a:lstStyle/>
          <a:p>
            <a:pPr algn="ctr"/>
          </a:p>
        </p:txBody>
      </p:sp>
      <p:sp>
        <p:nvSpPr>
          <p:cNvPr id="557" name="Circulo book"/>
          <p:cNvSpPr/>
          <p:nvPr/>
        </p:nvSpPr>
        <p:spPr>
          <a:xfrm>
            <a:off x="9432036" y="1783080"/>
            <a:ext cx="914400" cy="914400"/>
          </a:xfrm>
          <a:prstGeom prst="ellipse">
            <a:avLst/>
          </a:prstGeom>
          <a:solidFill>
            <a:srgbClr val="08B2E3"/>
          </a:solidFill>
          <a:ln>
            <a:noFill/>
          </a:ln>
        </p:spPr>
        <p:txBody>
          <a:bodyPr rtlCol="0" anchor="ctr"/>
          <a:lstStyle/>
          <a:p>
            <a:pPr algn="ctr"/>
          </a:p>
        </p:txBody>
      </p:sp>
      <p:pic>
        <p:nvPicPr>
          <p:cNvPr id="558" name="Picture 557" descr=""/>
          <p:cNvPicPr>
            <a:picLocks noChangeAspect="1"/>
          </p:cNvPicPr>
          <p:nvPr/>
        </p:nvPicPr>
        <p:blipFill>
          <a:blip r:embed="rId6"/>
          <a:stretch>
            <a:fillRect/>
          </a:stretch>
        </p:blipFill>
        <p:spPr>
          <a:xfrm>
            <a:off x="9660636" y="2011680"/>
            <a:ext cx="457200" cy="457200"/>
          </a:xfrm>
          <a:prstGeom prst="rect">
            <a:avLst/>
          </a:prstGeom>
        </p:spPr>
      </p:pic>
      <p:sp>
        <p:nvSpPr>
          <p:cNvPr id="559" name="TextBox 558"/>
          <p:cNvSpPr txBox="1"/>
          <p:nvPr/>
        </p:nvSpPr>
        <p:spPr>
          <a:xfrm>
            <a:off x="8814815" y="2880360"/>
            <a:ext cx="2148840" cy="2194560"/>
          </a:xfrm>
          <a:prstGeom prst="rect">
            <a:avLst/>
          </a:prstGeom>
          <a:noFill/>
        </p:spPr>
        <p:txBody>
          <a:bodyPr wrap="square" anchor="t">
            <a:noAutofit/>
          </a:bodyPr>
          <a:lstStyle/>
          <a:p>
            <a:pPr algn="ctr">
              <a:spcBef>
                <a:spcPts val="0"/>
              </a:spcBef>
              <a:spcAft>
                <a:spcPts val="600"/>
              </a:spcAft>
            </a:pPr>
            <a:r>
              <a:rPr sz="1700" b="1" i="0">
                <a:solidFill>
                  <a:srgbClr val="014AA0"/>
                </a:solidFill>
                <a:latin typeface="Arial"/>
              </a:rPr>
              <a:t>Cuentas por cobrar</a:t>
            </a:r>
          </a:p>
          <a:p>
            <a:pPr algn="ctr">
              <a:spcBef>
                <a:spcPts val="0"/>
              </a:spcBef>
              <a:spcAft>
                <a:spcPts val="0"/>
              </a:spcAft>
            </a:pPr>
            <a:r>
              <a:rPr sz="1400" b="0" i="0">
                <a:solidFill>
                  <a:srgbClr val="2B2B2B"/>
                </a:solidFill>
                <a:latin typeface="Arial"/>
              </a:rPr>
              <a:t>Se anotan en un cuaderno o de memoria: hay olvidos y clientes con nombres iguales.</a:t>
            </a:r>
          </a:p>
        </p:txBody>
      </p:sp>
      <p:sp>
        <p:nvSpPr>
          <p:cNvPr id="560" name="Oportunidad"/>
          <p:cNvSpPr/>
          <p:nvPr/>
        </p:nvSpPr>
        <p:spPr>
          <a:xfrm>
            <a:off x="1097280" y="5257800"/>
            <a:ext cx="9966960" cy="868680"/>
          </a:xfrm>
          <a:prstGeom prst="rect">
            <a:avLst/>
          </a:prstGeom>
          <a:solidFill>
            <a:srgbClr val="014AA0"/>
          </a:solidFill>
          <a:ln>
            <a:noFill/>
          </a:ln>
        </p:spPr>
        <p:txBody>
          <a:bodyPr rtlCol="0" anchor="ctr" wrap="square" lIns="274320" tIns="0" rIns="274320" bIns="0">
            <a:noAutofit/>
          </a:bodyPr>
          <a:lstStyle/>
          <a:p>
            <a:pPr algn="l">
              <a:spcBef>
                <a:spcPts val="0"/>
              </a:spcBef>
              <a:spcAft>
                <a:spcPts val="0"/>
              </a:spcAft>
            </a:pPr>
            <a:r>
              <a:rPr sz="1600" b="1" i="0">
                <a:solidFill>
                  <a:srgbClr val="A2D45E"/>
                </a:solidFill>
                <a:latin typeface="Arial"/>
              </a:rPr>
              <a:t>Oportunidad: </a:t>
            </a:r>
            <a:r>
              <a:rPr sz="1600" b="0" i="0">
                <a:solidFill>
                  <a:srgbClr val="FFFFFF"/>
                </a:solidFill>
                <a:latin typeface="Arial"/>
              </a:rPr>
              <a:t>un sistema sencillo que reúna inventario, ventas, pedidos y cuentas en un solo lugar.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AS-IS: venta en mostrador (BPMN)</a:t>
            </a:r>
            <a:endParaRPr>
              <a:solidFill>
                <a:srgbClr val="595959"/>
              </a:solidFill>
              <a:latin typeface="Nunito Sans ExtraBold"/>
              <a:ea typeface="Nunito Sans ExtraBold"/>
              <a:cs typeface="Nunito Sans ExtraBold"/>
              <a:sym typeface="Nunito Sans ExtraBold"/>
            </a:endParaRPr>
          </a:p>
        </p:txBody>
      </p:sp>
      <p:pic>
        <p:nvPicPr>
          <p:cNvPr id="544" name="Picture 543" descr="Diagrama BPMN AS-IS de la venta en mostrador, contado y crédito"/>
          <p:cNvPicPr>
            <a:picLocks noChangeAspect="1"/>
          </p:cNvPicPr>
          <p:nvPr/>
        </p:nvPicPr>
        <p:blipFill>
          <a:blip r:embed="rId2"/>
          <a:stretch>
            <a:fillRect/>
          </a:stretch>
        </p:blipFill>
        <p:spPr>
          <a:xfrm>
            <a:off x="1097280" y="1508760"/>
            <a:ext cx="7315200" cy="3935073"/>
          </a:xfrm>
          <a:prstGeom prst="rect">
            <a:avLst/>
          </a:prstGeom>
          <a:ln w="9525">
            <a:solidFill>
              <a:srgbClr val="BFC3D4"/>
            </a:solidFill>
          </a:ln>
        </p:spPr>
      </p:pic>
      <p:sp>
        <p:nvSpPr>
          <p:cNvPr id="545" name="TextBox 544"/>
          <p:cNvSpPr txBox="1"/>
          <p:nvPr/>
        </p:nvSpPr>
        <p:spPr>
          <a:xfrm>
            <a:off x="1097280" y="5532120"/>
            <a:ext cx="7315200" cy="274320"/>
          </a:xfrm>
          <a:prstGeom prst="rect">
            <a:avLst/>
          </a:prstGeom>
          <a:noFill/>
        </p:spPr>
        <p:txBody>
          <a:bodyPr wrap="square" lIns="0" tIns="0" rIns="0" bIns="0" anchor="t">
            <a:noAutofit/>
          </a:bodyPr>
          <a:lstStyle/>
          <a:p>
            <a:pPr algn="l">
              <a:spcBef>
                <a:spcPts val="0"/>
              </a:spcBef>
              <a:spcAft>
                <a:spcPts val="0"/>
              </a:spcAft>
            </a:pPr>
            <a:r>
              <a:rPr sz="1100" b="0" i="1">
                <a:solidFill>
                  <a:srgbClr val="595959"/>
                </a:solidFill>
                <a:latin typeface="Arial"/>
              </a:rPr>
              <a:t>Proceso actual. Elaboración propia con base en la información brindada por los dueños.</a:t>
            </a:r>
          </a:p>
        </p:txBody>
      </p:sp>
      <p:sp>
        <p:nvSpPr>
          <p:cNvPr id="546" name="TextBox 545"/>
          <p:cNvSpPr txBox="1"/>
          <p:nvPr/>
        </p:nvSpPr>
        <p:spPr>
          <a:xfrm>
            <a:off x="8686800" y="1417320"/>
            <a:ext cx="2377440" cy="274320"/>
          </a:xfrm>
          <a:prstGeom prst="rect">
            <a:avLst/>
          </a:prstGeom>
          <a:noFill/>
        </p:spPr>
        <p:txBody>
          <a:bodyPr wrap="square" lIns="0" tIns="0" rIns="0" bIns="0" anchor="t">
            <a:noAutofit/>
          </a:bodyPr>
          <a:lstStyle/>
          <a:p>
            <a:pPr algn="l">
              <a:spcBef>
                <a:spcPts val="0"/>
              </a:spcBef>
              <a:spcAft>
                <a:spcPts val="0"/>
              </a:spcAft>
            </a:pPr>
            <a:r>
              <a:rPr sz="1200" b="1" i="0">
                <a:solidFill>
                  <a:srgbClr val="D96A00"/>
                </a:solidFill>
                <a:latin typeface="Arial"/>
              </a:rPr>
              <a:t>QUÉ FALLA HOY</a:t>
            </a:r>
          </a:p>
        </p:txBody>
      </p:sp>
      <p:sp>
        <p:nvSpPr>
          <p:cNvPr id="547" name="Falla Cobro sin detalle"/>
          <p:cNvSpPr/>
          <p:nvPr/>
        </p:nvSpPr>
        <p:spPr>
          <a:xfrm>
            <a:off x="8686800" y="1737360"/>
            <a:ext cx="237744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D96A00"/>
                </a:solidFill>
                <a:latin typeface="Arial"/>
              </a:rPr>
              <a:t>Cobro sin detalle</a:t>
            </a:r>
          </a:p>
          <a:p>
            <a:pPr algn="l">
              <a:spcBef>
                <a:spcPts val="0"/>
              </a:spcBef>
              <a:spcAft>
                <a:spcPts val="0"/>
              </a:spcAft>
            </a:pPr>
            <a:r>
              <a:rPr sz="1350" b="0" i="0">
                <a:solidFill>
                  <a:srgbClr val="2B2B2B"/>
                </a:solidFill>
                <a:latin typeface="Arial"/>
              </a:rPr>
              <a:t>La caja o la tarjeta cobran, pero no guardan qué se vendió.</a:t>
            </a:r>
          </a:p>
        </p:txBody>
      </p:sp>
      <p:sp>
        <p:nvSpPr>
          <p:cNvPr id="548" name="Falla Crédito de memoria"/>
          <p:cNvSpPr/>
          <p:nvPr/>
        </p:nvSpPr>
        <p:spPr>
          <a:xfrm>
            <a:off x="8686800" y="3218688"/>
            <a:ext cx="237744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D96A00"/>
                </a:solidFill>
                <a:latin typeface="Arial"/>
              </a:rPr>
              <a:t>Crédito de memoria</a:t>
            </a:r>
          </a:p>
          <a:p>
            <a:pPr algn="l">
              <a:spcBef>
                <a:spcPts val="0"/>
              </a:spcBef>
              <a:spcAft>
                <a:spcPts val="0"/>
              </a:spcAft>
            </a:pPr>
            <a:r>
              <a:rPr sz="1350" b="0" i="0">
                <a:solidFill>
                  <a:srgbClr val="2B2B2B"/>
                </a:solidFill>
                <a:latin typeface="Arial"/>
              </a:rPr>
              <a:t>La deuda se anota en el cuaderno o se recuerda.</a:t>
            </a:r>
          </a:p>
        </p:txBody>
      </p:sp>
      <p:sp>
        <p:nvSpPr>
          <p:cNvPr id="549" name="Falla Inventario a ciegas"/>
          <p:cNvSpPr/>
          <p:nvPr/>
        </p:nvSpPr>
        <p:spPr>
          <a:xfrm>
            <a:off x="8686800" y="4700016"/>
            <a:ext cx="237744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D96A00"/>
                </a:solidFill>
                <a:latin typeface="Arial"/>
              </a:rPr>
              <a:t>Inventario a ciegas</a:t>
            </a:r>
          </a:p>
          <a:p>
            <a:pPr algn="l">
              <a:spcBef>
                <a:spcPts val="0"/>
              </a:spcBef>
              <a:spcAft>
                <a:spcPts val="0"/>
              </a:spcAft>
            </a:pPr>
            <a:r>
              <a:rPr sz="1350" b="0" i="0">
                <a:solidFill>
                  <a:srgbClr val="2B2B2B"/>
                </a:solidFill>
                <a:latin typeface="Arial"/>
              </a:rPr>
              <a:t>Ninguna venta descuenta producto de las existencias.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TO-BE: venta registrada en el sistema</a:t>
            </a:r>
            <a:endParaRPr>
              <a:solidFill>
                <a:srgbClr val="595959"/>
              </a:solidFill>
              <a:latin typeface="Nunito Sans ExtraBold"/>
              <a:ea typeface="Nunito Sans ExtraBold"/>
              <a:cs typeface="Nunito Sans ExtraBold"/>
              <a:sym typeface="Nunito Sans ExtraBold"/>
            </a:endParaRPr>
          </a:p>
        </p:txBody>
      </p:sp>
      <p:pic>
        <p:nvPicPr>
          <p:cNvPr id="544" name="Picture 543" descr="Diagrama BPMN TO-BE de la venta de contado y a crédito"/>
          <p:cNvPicPr>
            <a:picLocks noChangeAspect="1"/>
          </p:cNvPicPr>
          <p:nvPr/>
        </p:nvPicPr>
        <p:blipFill>
          <a:blip r:embed="rId2"/>
          <a:stretch>
            <a:fillRect/>
          </a:stretch>
        </p:blipFill>
        <p:spPr>
          <a:xfrm>
            <a:off x="1097280" y="1508760"/>
            <a:ext cx="6922008" cy="4296419"/>
          </a:xfrm>
          <a:prstGeom prst="rect">
            <a:avLst/>
          </a:prstGeom>
          <a:ln w="9525">
            <a:solidFill>
              <a:srgbClr val="BFC3D4"/>
            </a:solidFill>
          </a:ln>
        </p:spPr>
      </p:pic>
      <p:sp>
        <p:nvSpPr>
          <p:cNvPr id="545" name="TextBox 544"/>
          <p:cNvSpPr txBox="1"/>
          <p:nvPr/>
        </p:nvSpPr>
        <p:spPr>
          <a:xfrm>
            <a:off x="1097280" y="5852160"/>
            <a:ext cx="6949440" cy="274320"/>
          </a:xfrm>
          <a:prstGeom prst="rect">
            <a:avLst/>
          </a:prstGeom>
          <a:noFill/>
        </p:spPr>
        <p:txBody>
          <a:bodyPr wrap="square" lIns="0" tIns="0" rIns="0" bIns="0" anchor="t">
            <a:noAutofit/>
          </a:bodyPr>
          <a:lstStyle/>
          <a:p>
            <a:pPr algn="l">
              <a:spcBef>
                <a:spcPts val="0"/>
              </a:spcBef>
              <a:spcAft>
                <a:spcPts val="0"/>
              </a:spcAft>
            </a:pPr>
            <a:r>
              <a:rPr sz="1100" b="0" i="1">
                <a:solidFill>
                  <a:srgbClr val="595959"/>
                </a:solidFill>
                <a:latin typeface="Arial"/>
              </a:rPr>
              <a:t>Proceso propuesto. Las actividades en verde las ejecuta el sistema.</a:t>
            </a:r>
          </a:p>
        </p:txBody>
      </p:sp>
      <p:sp>
        <p:nvSpPr>
          <p:cNvPr id="546" name="TextBox 545"/>
          <p:cNvSpPr txBox="1"/>
          <p:nvPr/>
        </p:nvSpPr>
        <p:spPr>
          <a:xfrm>
            <a:off x="8321040" y="1417320"/>
            <a:ext cx="2743200" cy="274320"/>
          </a:xfrm>
          <a:prstGeom prst="rect">
            <a:avLst/>
          </a:prstGeom>
          <a:noFill/>
        </p:spPr>
        <p:txBody>
          <a:bodyPr wrap="square" lIns="0" tIns="0" rIns="0" bIns="0" anchor="t">
            <a:noAutofit/>
          </a:bodyPr>
          <a:lstStyle/>
          <a:p>
            <a:pPr algn="l">
              <a:spcBef>
                <a:spcPts val="0"/>
              </a:spcBef>
              <a:spcAft>
                <a:spcPts val="0"/>
              </a:spcAft>
            </a:pPr>
            <a:r>
              <a:rPr sz="1200" b="1" i="0">
                <a:solidFill>
                  <a:srgbClr val="4E8A12"/>
                </a:solidFill>
                <a:latin typeface="Arial"/>
              </a:rPr>
              <a:t>QUÉ CAMBIA</a:t>
            </a:r>
          </a:p>
        </p:txBody>
      </p:sp>
      <p:sp>
        <p:nvSpPr>
          <p:cNvPr id="547" name="Cambio Venta registrada"/>
          <p:cNvSpPr/>
          <p:nvPr/>
        </p:nvSpPr>
        <p:spPr>
          <a:xfrm>
            <a:off x="8321040" y="1737360"/>
            <a:ext cx="274320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4E8A12"/>
                </a:solidFill>
                <a:latin typeface="Arial"/>
              </a:rPr>
              <a:t>Venta registrada</a:t>
            </a:r>
          </a:p>
          <a:p>
            <a:pPr algn="l">
              <a:spcBef>
                <a:spcPts val="0"/>
              </a:spcBef>
              <a:spcAft>
                <a:spcPts val="0"/>
              </a:spcAft>
            </a:pPr>
            <a:r>
              <a:rPr sz="1350" b="0" i="0">
                <a:solidFill>
                  <a:srgbClr val="2B2B2B"/>
                </a:solidFill>
                <a:latin typeface="Arial"/>
              </a:rPr>
              <a:t>Cada venta, de contado o a crédito, queda con su detalle y monto.</a:t>
            </a:r>
          </a:p>
        </p:txBody>
      </p:sp>
      <p:sp>
        <p:nvSpPr>
          <p:cNvPr id="548" name="Cambio Crédito automático"/>
          <p:cNvSpPr/>
          <p:nvPr/>
        </p:nvSpPr>
        <p:spPr>
          <a:xfrm>
            <a:off x="8321040" y="3218688"/>
            <a:ext cx="274320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4E8A12"/>
                </a:solidFill>
                <a:latin typeface="Arial"/>
              </a:rPr>
              <a:t>Crédito automático</a:t>
            </a:r>
          </a:p>
          <a:p>
            <a:pPr algn="l">
              <a:spcBef>
                <a:spcPts val="0"/>
              </a:spcBef>
              <a:spcAft>
                <a:spcPts val="0"/>
              </a:spcAft>
            </a:pPr>
            <a:r>
              <a:rPr sz="1350" b="0" i="0">
                <a:solidFill>
                  <a:srgbClr val="2B2B2B"/>
                </a:solidFill>
                <a:latin typeface="Arial"/>
              </a:rPr>
              <a:t>El sistema asocia la venta al cliente y suma su saldo.</a:t>
            </a:r>
          </a:p>
        </p:txBody>
      </p:sp>
      <p:sp>
        <p:nvSpPr>
          <p:cNvPr id="549" name="Cambio Inventario al día"/>
          <p:cNvSpPr/>
          <p:nvPr/>
        </p:nvSpPr>
        <p:spPr>
          <a:xfrm>
            <a:off x="8321040" y="4700016"/>
            <a:ext cx="274320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4E8A12"/>
                </a:solidFill>
                <a:latin typeface="Arial"/>
              </a:rPr>
              <a:t>Inventario al día</a:t>
            </a:r>
          </a:p>
          <a:p>
            <a:pPr algn="l">
              <a:spcBef>
                <a:spcPts val="0"/>
              </a:spcBef>
              <a:spcAft>
                <a:spcPts val="0"/>
              </a:spcAft>
            </a:pPr>
            <a:r>
              <a:rPr sz="1350" b="0" i="0">
                <a:solidFill>
                  <a:srgbClr val="2B2B2B"/>
                </a:solidFill>
                <a:latin typeface="Arial"/>
              </a:rPr>
              <a:t>El producto se descuenta solo y el conteo diario sale del sistema.</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TO-BE: pedido y recepción de producto</a:t>
            </a:r>
            <a:endParaRPr>
              <a:solidFill>
                <a:srgbClr val="595959"/>
              </a:solidFill>
              <a:latin typeface="Nunito Sans ExtraBold"/>
              <a:ea typeface="Nunito Sans ExtraBold"/>
              <a:cs typeface="Nunito Sans ExtraBold"/>
              <a:sym typeface="Nunito Sans ExtraBold"/>
            </a:endParaRPr>
          </a:p>
        </p:txBody>
      </p:sp>
      <p:sp>
        <p:nvSpPr>
          <p:cNvPr id="544" name="TextBox 543"/>
          <p:cNvSpPr txBox="1"/>
          <p:nvPr/>
        </p:nvSpPr>
        <p:spPr>
          <a:xfrm>
            <a:off x="1097280" y="1417320"/>
            <a:ext cx="2926080" cy="274320"/>
          </a:xfrm>
          <a:prstGeom prst="rect">
            <a:avLst/>
          </a:prstGeom>
          <a:noFill/>
        </p:spPr>
        <p:txBody>
          <a:bodyPr wrap="square" lIns="0" tIns="0" rIns="0" bIns="0" anchor="t">
            <a:noAutofit/>
          </a:bodyPr>
          <a:lstStyle/>
          <a:p>
            <a:pPr algn="l">
              <a:spcBef>
                <a:spcPts val="0"/>
              </a:spcBef>
              <a:spcAft>
                <a:spcPts val="0"/>
              </a:spcAft>
            </a:pPr>
            <a:r>
              <a:rPr sz="1200" b="1" i="0">
                <a:solidFill>
                  <a:srgbClr val="4E8A12"/>
                </a:solidFill>
                <a:latin typeface="Arial"/>
              </a:rPr>
              <a:t>QUÉ CAMBIA</a:t>
            </a:r>
          </a:p>
        </p:txBody>
      </p:sp>
      <p:sp>
        <p:nvSpPr>
          <p:cNvPr id="545" name="Cambio Alerta de mínimo"/>
          <p:cNvSpPr/>
          <p:nvPr/>
        </p:nvSpPr>
        <p:spPr>
          <a:xfrm>
            <a:off x="1097280" y="1737360"/>
            <a:ext cx="292608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4E8A12"/>
                </a:solidFill>
                <a:latin typeface="Arial"/>
              </a:rPr>
              <a:t>Alerta de mínimo</a:t>
            </a:r>
          </a:p>
          <a:p>
            <a:pPr algn="l">
              <a:spcBef>
                <a:spcPts val="0"/>
              </a:spcBef>
              <a:spcAft>
                <a:spcPts val="0"/>
              </a:spcAft>
            </a:pPr>
            <a:r>
              <a:rPr sz="1350" b="0" i="0">
                <a:solidFill>
                  <a:srgbClr val="2B2B2B"/>
                </a:solidFill>
                <a:latin typeface="Arial"/>
              </a:rPr>
              <a:t>El sistema avisa cuándo hay que pedir.</a:t>
            </a:r>
          </a:p>
        </p:txBody>
      </p:sp>
      <p:sp>
        <p:nvSpPr>
          <p:cNvPr id="546" name="Cambio Pedido respaldado"/>
          <p:cNvSpPr/>
          <p:nvPr/>
        </p:nvSpPr>
        <p:spPr>
          <a:xfrm>
            <a:off x="1097280" y="3218688"/>
            <a:ext cx="292608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4E8A12"/>
                </a:solidFill>
                <a:latin typeface="Arial"/>
              </a:rPr>
              <a:t>Pedido respaldado</a:t>
            </a:r>
          </a:p>
          <a:p>
            <a:pPr algn="l">
              <a:spcBef>
                <a:spcPts val="0"/>
              </a:spcBef>
              <a:spcAft>
                <a:spcPts val="0"/>
              </a:spcAft>
            </a:pPr>
            <a:r>
              <a:rPr sz="1350" b="0" i="0">
                <a:solidFill>
                  <a:srgbClr val="2B2B2B"/>
                </a:solidFill>
                <a:latin typeface="Arial"/>
              </a:rPr>
              <a:t>Se registra en el sistema y puede seguir yendo por WhatsApp.</a:t>
            </a:r>
          </a:p>
        </p:txBody>
      </p:sp>
      <p:sp>
        <p:nvSpPr>
          <p:cNvPr id="547" name="Cambio Pedido vs. recibido"/>
          <p:cNvSpPr/>
          <p:nvPr/>
        </p:nvSpPr>
        <p:spPr>
          <a:xfrm>
            <a:off x="1097280" y="4700016"/>
            <a:ext cx="2926080" cy="1371600"/>
          </a:xfrm>
          <a:prstGeom prst="rect">
            <a:avLst/>
          </a:prstGeom>
          <a:solidFill>
            <a:srgbClr val="F0F1FA"/>
          </a:solidFill>
          <a:ln>
            <a:noFill/>
          </a:ln>
        </p:spPr>
        <p:txBody>
          <a:bodyPr rtlCol="0" anchor="t" wrap="square" lIns="137160" tIns="109728" rIns="109728">
            <a:noAutofit/>
          </a:bodyPr>
          <a:lstStyle/>
          <a:p>
            <a:pPr algn="l">
              <a:spcBef>
                <a:spcPts val="0"/>
              </a:spcBef>
              <a:spcAft>
                <a:spcPts val="400"/>
              </a:spcAft>
            </a:pPr>
            <a:r>
              <a:rPr sz="1500" b="1" i="0">
                <a:solidFill>
                  <a:srgbClr val="4E8A12"/>
                </a:solidFill>
                <a:latin typeface="Arial"/>
              </a:rPr>
              <a:t>Pedido vs. recibido</a:t>
            </a:r>
          </a:p>
          <a:p>
            <a:pPr algn="l">
              <a:spcBef>
                <a:spcPts val="0"/>
              </a:spcBef>
              <a:spcAft>
                <a:spcPts val="0"/>
              </a:spcAft>
            </a:pPr>
            <a:r>
              <a:rPr sz="1350" b="0" i="0">
                <a:solidFill>
                  <a:srgbClr val="2B2B2B"/>
                </a:solidFill>
                <a:latin typeface="Arial"/>
              </a:rPr>
              <a:t>Marca diferencias y atrasos, y suma lo recibido al inventario.</a:t>
            </a:r>
          </a:p>
        </p:txBody>
      </p:sp>
      <p:pic>
        <p:nvPicPr>
          <p:cNvPr id="548" name="Picture 547" descr="Diagrama BPMN TO-BE de pedido y recepción de producto"/>
          <p:cNvPicPr>
            <a:picLocks noChangeAspect="1"/>
          </p:cNvPicPr>
          <p:nvPr/>
        </p:nvPicPr>
        <p:blipFill>
          <a:blip r:embed="rId2"/>
          <a:stretch>
            <a:fillRect/>
          </a:stretch>
        </p:blipFill>
        <p:spPr>
          <a:xfrm>
            <a:off x="4297680" y="1508760"/>
            <a:ext cx="6781184" cy="4480560"/>
          </a:xfrm>
          <a:prstGeom prst="rect">
            <a:avLst/>
          </a:prstGeom>
          <a:ln w="9525">
            <a:solidFill>
              <a:srgbClr val="BFC3D4"/>
            </a:solidFill>
          </a:ln>
        </p:spPr>
      </p:pic>
      <p:sp>
        <p:nvSpPr>
          <p:cNvPr id="549" name="TextBox 548"/>
          <p:cNvSpPr txBox="1"/>
          <p:nvPr/>
        </p:nvSpPr>
        <p:spPr>
          <a:xfrm>
            <a:off x="4297680" y="6035040"/>
            <a:ext cx="6766560" cy="274320"/>
          </a:xfrm>
          <a:prstGeom prst="rect">
            <a:avLst/>
          </a:prstGeom>
          <a:noFill/>
        </p:spPr>
        <p:txBody>
          <a:bodyPr wrap="square" lIns="0" tIns="0" rIns="0" bIns="0" anchor="t">
            <a:noAutofit/>
          </a:bodyPr>
          <a:lstStyle/>
          <a:p>
            <a:pPr algn="l">
              <a:spcBef>
                <a:spcPts val="0"/>
              </a:spcBef>
              <a:spcAft>
                <a:spcPts val="0"/>
              </a:spcAft>
            </a:pPr>
            <a:r>
              <a:rPr sz="1100" b="0" i="1">
                <a:solidFill>
                  <a:srgbClr val="595959"/>
                </a:solidFill>
                <a:latin typeface="Arial"/>
              </a:rPr>
              <a:t>Proceso propuesto. Las actividades en verde las ejecuta el sistema.</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La solución: un sistema con 5 módulos</a:t>
            </a:r>
            <a:endParaRPr>
              <a:solidFill>
                <a:srgbClr val="595959"/>
              </a:solidFill>
              <a:latin typeface="Nunito Sans ExtraBold"/>
              <a:ea typeface="Nunito Sans ExtraBold"/>
              <a:cs typeface="Nunito Sans ExtraBold"/>
              <a:sym typeface="Nunito Sans ExtraBold"/>
            </a:endParaRPr>
          </a:p>
        </p:txBody>
      </p:sp>
      <p:sp>
        <p:nvSpPr>
          <p:cNvPr id="544" name="Modulo Inventario"/>
          <p:cNvSpPr/>
          <p:nvPr/>
        </p:nvSpPr>
        <p:spPr>
          <a:xfrm>
            <a:off x="1097280" y="1965960"/>
            <a:ext cx="1828800" cy="2971800"/>
          </a:xfrm>
          <a:prstGeom prst="rect">
            <a:avLst/>
          </a:prstGeom>
          <a:solidFill>
            <a:srgbClr val="F0F1FA"/>
          </a:solidFill>
          <a:ln>
            <a:noFill/>
          </a:ln>
        </p:spPr>
        <p:txBody>
          <a:bodyPr rtlCol="0" anchor="t" wrap="square" lIns="73152" rIns="73152">
            <a:noAutofit/>
          </a:bodyPr>
          <a:lstStyle/>
          <a:p>
            <a:pPr algn="ctr"/>
          </a:p>
        </p:txBody>
      </p:sp>
      <p:sp>
        <p:nvSpPr>
          <p:cNvPr id="545" name="Circulo inv"/>
          <p:cNvSpPr/>
          <p:nvPr/>
        </p:nvSpPr>
        <p:spPr>
          <a:xfrm>
            <a:off x="1508760" y="1463039"/>
            <a:ext cx="1005840" cy="1005840"/>
          </a:xfrm>
          <a:prstGeom prst="ellipse">
            <a:avLst/>
          </a:prstGeom>
          <a:solidFill>
            <a:srgbClr val="014AA0"/>
          </a:solidFill>
          <a:ln>
            <a:noFill/>
          </a:ln>
        </p:spPr>
        <p:txBody>
          <a:bodyPr rtlCol="0" anchor="ctr"/>
          <a:lstStyle/>
          <a:p>
            <a:pPr algn="ctr"/>
          </a:p>
        </p:txBody>
      </p:sp>
      <p:pic>
        <p:nvPicPr>
          <p:cNvPr id="546" name="Picture 545" descr=""/>
          <p:cNvPicPr>
            <a:picLocks noChangeAspect="1"/>
          </p:cNvPicPr>
          <p:nvPr/>
        </p:nvPicPr>
        <p:blipFill>
          <a:blip r:embed="rId2"/>
          <a:stretch>
            <a:fillRect/>
          </a:stretch>
        </p:blipFill>
        <p:spPr>
          <a:xfrm>
            <a:off x="1760220" y="1714500"/>
            <a:ext cx="502920" cy="502920"/>
          </a:xfrm>
          <a:prstGeom prst="rect">
            <a:avLst/>
          </a:prstGeom>
        </p:spPr>
      </p:pic>
      <p:sp>
        <p:nvSpPr>
          <p:cNvPr id="547" name="TextBox 546"/>
          <p:cNvSpPr txBox="1"/>
          <p:nvPr/>
        </p:nvSpPr>
        <p:spPr>
          <a:xfrm>
            <a:off x="1143000" y="2651760"/>
            <a:ext cx="1737360" cy="2468880"/>
          </a:xfrm>
          <a:prstGeom prst="rect">
            <a:avLst/>
          </a:prstGeom>
          <a:noFill/>
        </p:spPr>
        <p:txBody>
          <a:bodyPr wrap="square" lIns="73152" rIns="73152" anchor="t">
            <a:noAutofit/>
          </a:bodyPr>
          <a:lstStyle/>
          <a:p>
            <a:pPr algn="ctr">
              <a:spcBef>
                <a:spcPts val="0"/>
              </a:spcBef>
              <a:spcAft>
                <a:spcPts val="600"/>
              </a:spcAft>
            </a:pPr>
            <a:r>
              <a:rPr sz="1600" b="1" i="0">
                <a:solidFill>
                  <a:srgbClr val="014AA0"/>
                </a:solidFill>
                <a:latin typeface="Arial"/>
              </a:rPr>
              <a:t>Inventario</a:t>
            </a:r>
          </a:p>
          <a:p>
            <a:pPr algn="ctr">
              <a:spcBef>
                <a:spcPts val="0"/>
              </a:spcBef>
              <a:spcAft>
                <a:spcPts val="0"/>
              </a:spcAft>
            </a:pPr>
            <a:r>
              <a:rPr sz="1400" b="0" i="0">
                <a:solidFill>
                  <a:srgbClr val="2B2B2B"/>
                </a:solidFill>
                <a:latin typeface="Arial"/>
              </a:rPr>
              <a:t>Productos, existencias y alertas de mínimo.</a:t>
            </a:r>
          </a:p>
        </p:txBody>
      </p:sp>
      <p:sp>
        <p:nvSpPr>
          <p:cNvPr id="548" name="Modulo Pedidos y proveedores"/>
          <p:cNvSpPr/>
          <p:nvPr/>
        </p:nvSpPr>
        <p:spPr>
          <a:xfrm>
            <a:off x="3131820" y="1965960"/>
            <a:ext cx="1828800" cy="2971800"/>
          </a:xfrm>
          <a:prstGeom prst="rect">
            <a:avLst/>
          </a:prstGeom>
          <a:solidFill>
            <a:srgbClr val="F0F1FA"/>
          </a:solidFill>
          <a:ln>
            <a:noFill/>
          </a:ln>
        </p:spPr>
        <p:txBody>
          <a:bodyPr rtlCol="0" anchor="t" wrap="square" lIns="73152" rIns="73152">
            <a:noAutofit/>
          </a:bodyPr>
          <a:lstStyle/>
          <a:p>
            <a:pPr algn="ctr"/>
          </a:p>
        </p:txBody>
      </p:sp>
      <p:sp>
        <p:nvSpPr>
          <p:cNvPr id="549" name="Circulo truck"/>
          <p:cNvSpPr/>
          <p:nvPr/>
        </p:nvSpPr>
        <p:spPr>
          <a:xfrm>
            <a:off x="3543300" y="1463039"/>
            <a:ext cx="1005840" cy="1005840"/>
          </a:xfrm>
          <a:prstGeom prst="ellipse">
            <a:avLst/>
          </a:prstGeom>
          <a:solidFill>
            <a:srgbClr val="FF8303"/>
          </a:solidFill>
          <a:ln>
            <a:noFill/>
          </a:ln>
        </p:spPr>
        <p:txBody>
          <a:bodyPr rtlCol="0" anchor="ctr"/>
          <a:lstStyle/>
          <a:p>
            <a:pPr algn="ctr"/>
          </a:p>
        </p:txBody>
      </p:sp>
      <p:pic>
        <p:nvPicPr>
          <p:cNvPr id="550" name="Picture 549" descr=""/>
          <p:cNvPicPr>
            <a:picLocks noChangeAspect="1"/>
          </p:cNvPicPr>
          <p:nvPr/>
        </p:nvPicPr>
        <p:blipFill>
          <a:blip r:embed="rId4"/>
          <a:stretch>
            <a:fillRect/>
          </a:stretch>
        </p:blipFill>
        <p:spPr>
          <a:xfrm>
            <a:off x="3794759" y="1714500"/>
            <a:ext cx="502920" cy="502920"/>
          </a:xfrm>
          <a:prstGeom prst="rect">
            <a:avLst/>
          </a:prstGeom>
        </p:spPr>
      </p:pic>
      <p:sp>
        <p:nvSpPr>
          <p:cNvPr id="551" name="TextBox 550"/>
          <p:cNvSpPr txBox="1"/>
          <p:nvPr/>
        </p:nvSpPr>
        <p:spPr>
          <a:xfrm>
            <a:off x="3177539" y="2651760"/>
            <a:ext cx="1737360" cy="2468880"/>
          </a:xfrm>
          <a:prstGeom prst="rect">
            <a:avLst/>
          </a:prstGeom>
          <a:noFill/>
        </p:spPr>
        <p:txBody>
          <a:bodyPr wrap="square" lIns="73152" rIns="73152" anchor="t">
            <a:noAutofit/>
          </a:bodyPr>
          <a:lstStyle/>
          <a:p>
            <a:pPr algn="ctr">
              <a:spcBef>
                <a:spcPts val="0"/>
              </a:spcBef>
              <a:spcAft>
                <a:spcPts val="600"/>
              </a:spcAft>
            </a:pPr>
            <a:r>
              <a:rPr sz="1600" b="1" i="0">
                <a:solidFill>
                  <a:srgbClr val="014AA0"/>
                </a:solidFill>
                <a:latin typeface="Arial"/>
              </a:rPr>
              <a:t>Pedidos y proveedores</a:t>
            </a:r>
          </a:p>
          <a:p>
            <a:pPr algn="ctr">
              <a:spcBef>
                <a:spcPts val="0"/>
              </a:spcBef>
              <a:spcAft>
                <a:spcPts val="0"/>
              </a:spcAft>
            </a:pPr>
            <a:r>
              <a:rPr sz="1400" b="0" i="0">
                <a:solidFill>
                  <a:srgbClr val="2B2B2B"/>
                </a:solidFill>
                <a:latin typeface="Arial"/>
              </a:rPr>
              <a:t>Registra lo pedido y lo compara con lo recibido.</a:t>
            </a:r>
          </a:p>
        </p:txBody>
      </p:sp>
      <p:sp>
        <p:nvSpPr>
          <p:cNvPr id="552" name="Modulo Ventas"/>
          <p:cNvSpPr/>
          <p:nvPr/>
        </p:nvSpPr>
        <p:spPr>
          <a:xfrm>
            <a:off x="5166360" y="1965960"/>
            <a:ext cx="1828800" cy="2971800"/>
          </a:xfrm>
          <a:prstGeom prst="rect">
            <a:avLst/>
          </a:prstGeom>
          <a:solidFill>
            <a:srgbClr val="F0F1FA"/>
          </a:solidFill>
          <a:ln>
            <a:noFill/>
          </a:ln>
        </p:spPr>
        <p:txBody>
          <a:bodyPr rtlCol="0" anchor="t" wrap="square" lIns="73152" rIns="73152">
            <a:noAutofit/>
          </a:bodyPr>
          <a:lstStyle/>
          <a:p>
            <a:pPr algn="ctr"/>
          </a:p>
        </p:txBody>
      </p:sp>
      <p:sp>
        <p:nvSpPr>
          <p:cNvPr id="553" name="Circulo cash"/>
          <p:cNvSpPr/>
          <p:nvPr/>
        </p:nvSpPr>
        <p:spPr>
          <a:xfrm>
            <a:off x="5577840" y="1463039"/>
            <a:ext cx="1005840" cy="1005840"/>
          </a:xfrm>
          <a:prstGeom prst="ellipse">
            <a:avLst/>
          </a:prstGeom>
          <a:solidFill>
            <a:srgbClr val="08B2E3"/>
          </a:solidFill>
          <a:ln>
            <a:noFill/>
          </a:ln>
        </p:spPr>
        <p:txBody>
          <a:bodyPr rtlCol="0" anchor="ctr"/>
          <a:lstStyle/>
          <a:p>
            <a:pPr algn="ctr"/>
          </a:p>
        </p:txBody>
      </p:sp>
      <p:pic>
        <p:nvPicPr>
          <p:cNvPr id="554" name="Picture 553" descr=""/>
          <p:cNvPicPr>
            <a:picLocks noChangeAspect="1"/>
          </p:cNvPicPr>
          <p:nvPr/>
        </p:nvPicPr>
        <p:blipFill>
          <a:blip r:embed="rId5"/>
          <a:stretch>
            <a:fillRect/>
          </a:stretch>
        </p:blipFill>
        <p:spPr>
          <a:xfrm>
            <a:off x="5829300" y="1714500"/>
            <a:ext cx="502920" cy="502920"/>
          </a:xfrm>
          <a:prstGeom prst="rect">
            <a:avLst/>
          </a:prstGeom>
        </p:spPr>
      </p:pic>
      <p:sp>
        <p:nvSpPr>
          <p:cNvPr id="555" name="TextBox 554"/>
          <p:cNvSpPr txBox="1"/>
          <p:nvPr/>
        </p:nvSpPr>
        <p:spPr>
          <a:xfrm>
            <a:off x="5212080" y="2651760"/>
            <a:ext cx="1737360" cy="2468880"/>
          </a:xfrm>
          <a:prstGeom prst="rect">
            <a:avLst/>
          </a:prstGeom>
          <a:noFill/>
        </p:spPr>
        <p:txBody>
          <a:bodyPr wrap="square" lIns="73152" rIns="73152" anchor="t">
            <a:noAutofit/>
          </a:bodyPr>
          <a:lstStyle/>
          <a:p>
            <a:pPr algn="ctr">
              <a:spcBef>
                <a:spcPts val="0"/>
              </a:spcBef>
              <a:spcAft>
                <a:spcPts val="600"/>
              </a:spcAft>
            </a:pPr>
            <a:r>
              <a:rPr sz="1600" b="1" i="0">
                <a:solidFill>
                  <a:srgbClr val="014AA0"/>
                </a:solidFill>
                <a:latin typeface="Arial"/>
              </a:rPr>
              <a:t>Ventas</a:t>
            </a:r>
          </a:p>
          <a:p>
            <a:pPr algn="ctr">
              <a:spcBef>
                <a:spcPts val="0"/>
              </a:spcBef>
              <a:spcAft>
                <a:spcPts val="0"/>
              </a:spcAft>
            </a:pPr>
            <a:r>
              <a:rPr sz="1400" b="0" i="0">
                <a:solidFill>
                  <a:srgbClr val="2B2B2B"/>
                </a:solidFill>
                <a:latin typeface="Arial"/>
              </a:rPr>
              <a:t>Venta de contado o crédito y conteo diario.</a:t>
            </a:r>
          </a:p>
        </p:txBody>
      </p:sp>
      <p:sp>
        <p:nvSpPr>
          <p:cNvPr id="556" name="Modulo Cuentas por cobrar"/>
          <p:cNvSpPr/>
          <p:nvPr/>
        </p:nvSpPr>
        <p:spPr>
          <a:xfrm>
            <a:off x="7200900" y="1965960"/>
            <a:ext cx="1828800" cy="2971800"/>
          </a:xfrm>
          <a:prstGeom prst="rect">
            <a:avLst/>
          </a:prstGeom>
          <a:solidFill>
            <a:srgbClr val="F0F1FA"/>
          </a:solidFill>
          <a:ln>
            <a:noFill/>
          </a:ln>
        </p:spPr>
        <p:txBody>
          <a:bodyPr rtlCol="0" anchor="t" wrap="square" lIns="73152" rIns="73152">
            <a:noAutofit/>
          </a:bodyPr>
          <a:lstStyle/>
          <a:p>
            <a:pPr algn="ctr"/>
          </a:p>
        </p:txBody>
      </p:sp>
      <p:sp>
        <p:nvSpPr>
          <p:cNvPr id="557" name="Circulo debt"/>
          <p:cNvSpPr/>
          <p:nvPr/>
        </p:nvSpPr>
        <p:spPr>
          <a:xfrm>
            <a:off x="7612379" y="1463039"/>
            <a:ext cx="1005840" cy="1005840"/>
          </a:xfrm>
          <a:prstGeom prst="ellipse">
            <a:avLst/>
          </a:prstGeom>
          <a:solidFill>
            <a:srgbClr val="595959"/>
          </a:solidFill>
          <a:ln>
            <a:noFill/>
          </a:ln>
        </p:spPr>
        <p:txBody>
          <a:bodyPr rtlCol="0" anchor="ctr"/>
          <a:lstStyle/>
          <a:p>
            <a:pPr algn="ctr"/>
          </a:p>
        </p:txBody>
      </p:sp>
      <p:pic>
        <p:nvPicPr>
          <p:cNvPr id="558" name="Picture 557" descr=""/>
          <p:cNvPicPr>
            <a:picLocks noChangeAspect="1"/>
          </p:cNvPicPr>
          <p:nvPr/>
        </p:nvPicPr>
        <p:blipFill>
          <a:blip r:embed="rId6"/>
          <a:stretch>
            <a:fillRect/>
          </a:stretch>
        </p:blipFill>
        <p:spPr>
          <a:xfrm>
            <a:off x="7863840" y="1714500"/>
            <a:ext cx="502920" cy="502920"/>
          </a:xfrm>
          <a:prstGeom prst="rect">
            <a:avLst/>
          </a:prstGeom>
        </p:spPr>
      </p:pic>
      <p:sp>
        <p:nvSpPr>
          <p:cNvPr id="559" name="TextBox 558"/>
          <p:cNvSpPr txBox="1"/>
          <p:nvPr/>
        </p:nvSpPr>
        <p:spPr>
          <a:xfrm>
            <a:off x="7246620" y="2651760"/>
            <a:ext cx="1737360" cy="2468880"/>
          </a:xfrm>
          <a:prstGeom prst="rect">
            <a:avLst/>
          </a:prstGeom>
          <a:noFill/>
        </p:spPr>
        <p:txBody>
          <a:bodyPr wrap="square" lIns="73152" rIns="73152" anchor="t">
            <a:noAutofit/>
          </a:bodyPr>
          <a:lstStyle/>
          <a:p>
            <a:pPr algn="ctr">
              <a:spcBef>
                <a:spcPts val="0"/>
              </a:spcBef>
              <a:spcAft>
                <a:spcPts val="600"/>
              </a:spcAft>
            </a:pPr>
            <a:r>
              <a:rPr sz="1600" b="1" i="0">
                <a:solidFill>
                  <a:srgbClr val="014AA0"/>
                </a:solidFill>
                <a:latin typeface="Arial"/>
              </a:rPr>
              <a:t>Cuentas por cobrar</a:t>
            </a:r>
          </a:p>
          <a:p>
            <a:pPr algn="ctr">
              <a:spcBef>
                <a:spcPts val="0"/>
              </a:spcBef>
              <a:spcAft>
                <a:spcPts val="0"/>
              </a:spcAft>
            </a:pPr>
            <a:r>
              <a:rPr sz="1400" b="0" i="0">
                <a:solidFill>
                  <a:srgbClr val="2B2B2B"/>
                </a:solidFill>
                <a:latin typeface="Arial"/>
              </a:rPr>
              <a:t>Saldos, abonos y clientes sin confusiones.</a:t>
            </a:r>
          </a:p>
        </p:txBody>
      </p:sp>
      <p:sp>
        <p:nvSpPr>
          <p:cNvPr id="560" name="Modulo Reportes y usuarios"/>
          <p:cNvSpPr/>
          <p:nvPr/>
        </p:nvSpPr>
        <p:spPr>
          <a:xfrm>
            <a:off x="9235440" y="1965960"/>
            <a:ext cx="1828800" cy="2971800"/>
          </a:xfrm>
          <a:prstGeom prst="rect">
            <a:avLst/>
          </a:prstGeom>
          <a:solidFill>
            <a:srgbClr val="F0F1FA"/>
          </a:solidFill>
          <a:ln>
            <a:noFill/>
          </a:ln>
        </p:spPr>
        <p:txBody>
          <a:bodyPr rtlCol="0" anchor="t" wrap="square" lIns="73152" rIns="73152">
            <a:noAutofit/>
          </a:bodyPr>
          <a:lstStyle/>
          <a:p>
            <a:pPr algn="ctr"/>
          </a:p>
        </p:txBody>
      </p:sp>
      <p:sp>
        <p:nvSpPr>
          <p:cNvPr id="561" name="Circulo chart"/>
          <p:cNvSpPr/>
          <p:nvPr/>
        </p:nvSpPr>
        <p:spPr>
          <a:xfrm>
            <a:off x="9646919" y="1463039"/>
            <a:ext cx="1005840" cy="1005840"/>
          </a:xfrm>
          <a:prstGeom prst="ellipse">
            <a:avLst/>
          </a:prstGeom>
          <a:solidFill>
            <a:srgbClr val="A2D45E"/>
          </a:solidFill>
          <a:ln>
            <a:noFill/>
          </a:ln>
        </p:spPr>
        <p:txBody>
          <a:bodyPr rtlCol="0" anchor="ctr"/>
          <a:lstStyle/>
          <a:p>
            <a:pPr algn="ctr"/>
          </a:p>
        </p:txBody>
      </p:sp>
      <p:pic>
        <p:nvPicPr>
          <p:cNvPr id="562" name="Picture 561" descr=""/>
          <p:cNvPicPr>
            <a:picLocks noChangeAspect="1"/>
          </p:cNvPicPr>
          <p:nvPr/>
        </p:nvPicPr>
        <p:blipFill>
          <a:blip r:embed="rId7"/>
          <a:stretch>
            <a:fillRect/>
          </a:stretch>
        </p:blipFill>
        <p:spPr>
          <a:xfrm>
            <a:off x="9898380" y="1714500"/>
            <a:ext cx="502920" cy="502920"/>
          </a:xfrm>
          <a:prstGeom prst="rect">
            <a:avLst/>
          </a:prstGeom>
        </p:spPr>
      </p:pic>
      <p:sp>
        <p:nvSpPr>
          <p:cNvPr id="563" name="TextBox 562"/>
          <p:cNvSpPr txBox="1"/>
          <p:nvPr/>
        </p:nvSpPr>
        <p:spPr>
          <a:xfrm>
            <a:off x="9281160" y="2651760"/>
            <a:ext cx="1737360" cy="2468880"/>
          </a:xfrm>
          <a:prstGeom prst="rect">
            <a:avLst/>
          </a:prstGeom>
          <a:noFill/>
        </p:spPr>
        <p:txBody>
          <a:bodyPr wrap="square" lIns="73152" rIns="73152" anchor="t">
            <a:noAutofit/>
          </a:bodyPr>
          <a:lstStyle/>
          <a:p>
            <a:pPr algn="ctr">
              <a:spcBef>
                <a:spcPts val="0"/>
              </a:spcBef>
              <a:spcAft>
                <a:spcPts val="600"/>
              </a:spcAft>
            </a:pPr>
            <a:r>
              <a:rPr sz="1600" b="1" i="0">
                <a:solidFill>
                  <a:srgbClr val="014AA0"/>
                </a:solidFill>
                <a:latin typeface="Arial"/>
              </a:rPr>
              <a:t>Reportes y usuarios</a:t>
            </a:r>
          </a:p>
          <a:p>
            <a:pPr algn="ctr">
              <a:spcBef>
                <a:spcPts val="0"/>
              </a:spcBef>
              <a:spcAft>
                <a:spcPts val="0"/>
              </a:spcAft>
            </a:pPr>
            <a:r>
              <a:rPr sz="1400" b="0" i="0">
                <a:solidFill>
                  <a:srgbClr val="2B2B2B"/>
                </a:solidFill>
                <a:latin typeface="Arial"/>
              </a:rPr>
              <a:t>Reportes de ventas e inventario, con acceso por rol.</a:t>
            </a:r>
          </a:p>
        </p:txBody>
      </p:sp>
      <p:sp>
        <p:nvSpPr>
          <p:cNvPr id="564" name="Franja acceso"/>
          <p:cNvSpPr/>
          <p:nvPr/>
        </p:nvSpPr>
        <p:spPr>
          <a:xfrm>
            <a:off x="1097280" y="5212080"/>
            <a:ext cx="9966960" cy="731520"/>
          </a:xfrm>
          <a:prstGeom prst="rect">
            <a:avLst/>
          </a:prstGeom>
          <a:solidFill>
            <a:srgbClr val="014AA0"/>
          </a:solidFill>
          <a:ln>
            <a:noFill/>
          </a:ln>
        </p:spPr>
        <p:txBody>
          <a:bodyPr rtlCol="0" anchor="ctr" wrap="square" lIns="73152" rIns="73152">
            <a:noAutofit/>
          </a:bodyPr>
          <a:lstStyle/>
          <a:p>
            <a:pPr algn="ctr">
              <a:spcBef>
                <a:spcPts val="0"/>
              </a:spcBef>
              <a:spcAft>
                <a:spcPts val="0"/>
              </a:spcAft>
            </a:pPr>
            <a:r>
              <a:rPr sz="1600" b="1" i="0">
                <a:solidFill>
                  <a:srgbClr val="FFFFFF"/>
                </a:solidFill>
                <a:latin typeface="Arial"/>
              </a:rPr>
              <a:t>Uso desde computadora o celular  ·  Acceso según el rol de cada persona</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Actores interesados (stakeholders)</a:t>
            </a:r>
            <a:endParaRPr>
              <a:solidFill>
                <a:srgbClr val="595959"/>
              </a:solidFill>
              <a:latin typeface="Nunito Sans ExtraBold"/>
              <a:ea typeface="Nunito Sans ExtraBold"/>
              <a:cs typeface="Nunito Sans ExtraBold"/>
              <a:sym typeface="Nunito Sans ExtraBold"/>
            </a:endParaRPr>
          </a:p>
        </p:txBody>
      </p:sp>
      <p:sp>
        <p:nvSpPr>
          <p:cNvPr id="544" name="Encabezado internos"/>
          <p:cNvSpPr/>
          <p:nvPr/>
        </p:nvSpPr>
        <p:spPr>
          <a:xfrm>
            <a:off x="1097280" y="1508760"/>
            <a:ext cx="4846320" cy="457200"/>
          </a:xfrm>
          <a:prstGeom prst="rect">
            <a:avLst/>
          </a:prstGeom>
          <a:solidFill>
            <a:srgbClr val="014AA0"/>
          </a:solidFill>
          <a:ln>
            <a:noFill/>
          </a:ln>
        </p:spPr>
        <p:txBody>
          <a:bodyPr rtlCol="0" anchor="ctr" wrap="square" lIns="182880" tIns="0" bIns="0">
            <a:noAutofit/>
          </a:bodyPr>
          <a:lstStyle/>
          <a:p>
            <a:pPr algn="l">
              <a:spcBef>
                <a:spcPts val="0"/>
              </a:spcBef>
              <a:spcAft>
                <a:spcPts val="0"/>
              </a:spcAft>
            </a:pPr>
            <a:r>
              <a:rPr sz="1500" b="1" i="0">
                <a:solidFill>
                  <a:srgbClr val="FFFFFF"/>
                </a:solidFill>
                <a:latin typeface="Arial"/>
              </a:rPr>
              <a:t>Internos</a:t>
            </a:r>
          </a:p>
        </p:txBody>
      </p:sp>
      <p:sp>
        <p:nvSpPr>
          <p:cNvPr id="545" name="Encabezado externos"/>
          <p:cNvSpPr/>
          <p:nvPr/>
        </p:nvSpPr>
        <p:spPr>
          <a:xfrm>
            <a:off x="6217920" y="1508760"/>
            <a:ext cx="4846320" cy="457200"/>
          </a:xfrm>
          <a:prstGeom prst="rect">
            <a:avLst/>
          </a:prstGeom>
          <a:solidFill>
            <a:srgbClr val="595959"/>
          </a:solidFill>
          <a:ln>
            <a:noFill/>
          </a:ln>
        </p:spPr>
        <p:txBody>
          <a:bodyPr rtlCol="0" anchor="ctr" wrap="square" lIns="182880" tIns="0" bIns="0">
            <a:noAutofit/>
          </a:bodyPr>
          <a:lstStyle/>
          <a:p>
            <a:pPr algn="l">
              <a:spcBef>
                <a:spcPts val="0"/>
              </a:spcBef>
              <a:spcAft>
                <a:spcPts val="0"/>
              </a:spcAft>
            </a:pPr>
            <a:r>
              <a:rPr sz="1500" b="1" i="0">
                <a:solidFill>
                  <a:srgbClr val="FFFFFF"/>
                </a:solidFill>
                <a:latin typeface="Arial"/>
              </a:rPr>
              <a:t>Externos</a:t>
            </a:r>
          </a:p>
        </p:txBody>
      </p:sp>
      <p:sp>
        <p:nvSpPr>
          <p:cNvPr id="546" name="Actor Dueños (doña Mirna y don Elio)"/>
          <p:cNvSpPr/>
          <p:nvPr/>
        </p:nvSpPr>
        <p:spPr>
          <a:xfrm>
            <a:off x="1097280" y="2103120"/>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Dueños (doña Mirna y don Elio)</a:t>
            </a:r>
          </a:p>
          <a:p>
            <a:pPr algn="l">
              <a:spcBef>
                <a:spcPts val="0"/>
              </a:spcBef>
              <a:spcAft>
                <a:spcPts val="0"/>
              </a:spcAft>
            </a:pPr>
            <a:r>
              <a:rPr sz="1300" b="0" i="0">
                <a:solidFill>
                  <a:srgbClr val="595959"/>
                </a:solidFill>
                <a:latin typeface="Arial"/>
              </a:rPr>
              <a:t>Control del negocio, reportes y menos pérdidas</a:t>
            </a:r>
          </a:p>
        </p:txBody>
      </p:sp>
      <p:sp>
        <p:nvSpPr>
          <p:cNvPr id="547" name="Influencia Dueños (doña Mirna y don Elio)"/>
          <p:cNvSpPr/>
          <p:nvPr/>
        </p:nvSpPr>
        <p:spPr>
          <a:xfrm>
            <a:off x="4389120" y="2377439"/>
            <a:ext cx="1417320" cy="329184"/>
          </a:xfrm>
          <a:prstGeom prst="roundRect">
            <a:avLst>
              <a:gd name="adj" fmla="val 50000"/>
            </a:avLst>
          </a:prstGeom>
          <a:solidFill>
            <a:srgbClr val="FF8303"/>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alta</a:t>
            </a:r>
          </a:p>
        </p:txBody>
      </p:sp>
      <p:sp>
        <p:nvSpPr>
          <p:cNvPr id="548" name="Actor Responsable de compras"/>
          <p:cNvSpPr/>
          <p:nvPr/>
        </p:nvSpPr>
        <p:spPr>
          <a:xfrm>
            <a:off x="1097280" y="3063239"/>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Responsable de compras</a:t>
            </a:r>
          </a:p>
          <a:p>
            <a:pPr algn="l">
              <a:spcBef>
                <a:spcPts val="0"/>
              </a:spcBef>
              <a:spcAft>
                <a:spcPts val="0"/>
              </a:spcAft>
            </a:pPr>
            <a:r>
              <a:rPr sz="1300" b="0" i="0">
                <a:solidFill>
                  <a:srgbClr val="595959"/>
                </a:solidFill>
                <a:latin typeface="Arial"/>
              </a:rPr>
              <a:t>Registrar pedidos y recepciones</a:t>
            </a:r>
          </a:p>
        </p:txBody>
      </p:sp>
      <p:sp>
        <p:nvSpPr>
          <p:cNvPr id="549" name="Influencia Responsable de compras"/>
          <p:cNvSpPr/>
          <p:nvPr/>
        </p:nvSpPr>
        <p:spPr>
          <a:xfrm>
            <a:off x="4389120" y="3337559"/>
            <a:ext cx="1417320" cy="329184"/>
          </a:xfrm>
          <a:prstGeom prst="roundRect">
            <a:avLst>
              <a:gd name="adj" fmla="val 50000"/>
            </a:avLst>
          </a:prstGeom>
          <a:solidFill>
            <a:srgbClr val="08B2E3"/>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media</a:t>
            </a:r>
          </a:p>
        </p:txBody>
      </p:sp>
      <p:sp>
        <p:nvSpPr>
          <p:cNvPr id="550" name="Actor Personal de mostrador"/>
          <p:cNvSpPr/>
          <p:nvPr/>
        </p:nvSpPr>
        <p:spPr>
          <a:xfrm>
            <a:off x="1097280" y="4023360"/>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Personal de mostrador</a:t>
            </a:r>
          </a:p>
          <a:p>
            <a:pPr algn="l">
              <a:spcBef>
                <a:spcPts val="0"/>
              </a:spcBef>
              <a:spcAft>
                <a:spcPts val="0"/>
              </a:spcAft>
            </a:pPr>
            <a:r>
              <a:rPr sz="1300" b="0" i="0">
                <a:solidFill>
                  <a:srgbClr val="595959"/>
                </a:solidFill>
                <a:latin typeface="Arial"/>
              </a:rPr>
              <a:t>Registrar ventas de forma rápida y sencilla</a:t>
            </a:r>
          </a:p>
        </p:txBody>
      </p:sp>
      <p:sp>
        <p:nvSpPr>
          <p:cNvPr id="551" name="Influencia Personal de mostrador"/>
          <p:cNvSpPr/>
          <p:nvPr/>
        </p:nvSpPr>
        <p:spPr>
          <a:xfrm>
            <a:off x="4389120" y="4297680"/>
            <a:ext cx="1417320" cy="329184"/>
          </a:xfrm>
          <a:prstGeom prst="roundRect">
            <a:avLst>
              <a:gd name="adj" fmla="val 50000"/>
            </a:avLst>
          </a:prstGeom>
          <a:solidFill>
            <a:srgbClr val="08B2E3"/>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media</a:t>
            </a:r>
          </a:p>
        </p:txBody>
      </p:sp>
      <p:sp>
        <p:nvSpPr>
          <p:cNvPr id="552" name="Actor Clientes con crédito"/>
          <p:cNvSpPr/>
          <p:nvPr/>
        </p:nvSpPr>
        <p:spPr>
          <a:xfrm>
            <a:off x="6217920" y="2103120"/>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Clientes con crédito</a:t>
            </a:r>
          </a:p>
          <a:p>
            <a:pPr algn="l">
              <a:spcBef>
                <a:spcPts val="0"/>
              </a:spcBef>
              <a:spcAft>
                <a:spcPts val="0"/>
              </a:spcAft>
            </a:pPr>
            <a:r>
              <a:rPr sz="1300" b="0" i="0">
                <a:solidFill>
                  <a:srgbClr val="595959"/>
                </a:solidFill>
                <a:latin typeface="Arial"/>
              </a:rPr>
              <a:t>Saldos claros y correctos</a:t>
            </a:r>
          </a:p>
        </p:txBody>
      </p:sp>
      <p:sp>
        <p:nvSpPr>
          <p:cNvPr id="553" name="Influencia Clientes con crédito"/>
          <p:cNvSpPr/>
          <p:nvPr/>
        </p:nvSpPr>
        <p:spPr>
          <a:xfrm>
            <a:off x="9509760" y="2377439"/>
            <a:ext cx="1417320" cy="329184"/>
          </a:xfrm>
          <a:prstGeom prst="roundRect">
            <a:avLst>
              <a:gd name="adj" fmla="val 50000"/>
            </a:avLst>
          </a:prstGeom>
          <a:solidFill>
            <a:srgbClr val="D9DCE8"/>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baja</a:t>
            </a:r>
          </a:p>
        </p:txBody>
      </p:sp>
      <p:sp>
        <p:nvSpPr>
          <p:cNvPr id="554" name="Actor Proveedores"/>
          <p:cNvSpPr/>
          <p:nvPr/>
        </p:nvSpPr>
        <p:spPr>
          <a:xfrm>
            <a:off x="6217920" y="3063239"/>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Proveedores</a:t>
            </a:r>
          </a:p>
          <a:p>
            <a:pPr algn="l">
              <a:spcBef>
                <a:spcPts val="0"/>
              </a:spcBef>
              <a:spcAft>
                <a:spcPts val="0"/>
              </a:spcAft>
            </a:pPr>
            <a:r>
              <a:rPr sz="1300" b="0" i="0">
                <a:solidFill>
                  <a:srgbClr val="595959"/>
                </a:solidFill>
                <a:latin typeface="Arial"/>
              </a:rPr>
              <a:t>Pedidos claros y documentados</a:t>
            </a:r>
          </a:p>
        </p:txBody>
      </p:sp>
      <p:sp>
        <p:nvSpPr>
          <p:cNvPr id="555" name="Influencia Proveedores"/>
          <p:cNvSpPr/>
          <p:nvPr/>
        </p:nvSpPr>
        <p:spPr>
          <a:xfrm>
            <a:off x="9509760" y="3337559"/>
            <a:ext cx="1417320" cy="329184"/>
          </a:xfrm>
          <a:prstGeom prst="roundRect">
            <a:avLst>
              <a:gd name="adj" fmla="val 50000"/>
            </a:avLst>
          </a:prstGeom>
          <a:solidFill>
            <a:srgbClr val="08B2E3"/>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media</a:t>
            </a:r>
          </a:p>
        </p:txBody>
      </p:sp>
      <p:sp>
        <p:nvSpPr>
          <p:cNvPr id="556" name="Actor Entes reguladores"/>
          <p:cNvSpPr/>
          <p:nvPr/>
        </p:nvSpPr>
        <p:spPr>
          <a:xfrm>
            <a:off x="6217920" y="4023360"/>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Entes reguladores</a:t>
            </a:r>
          </a:p>
          <a:p>
            <a:pPr algn="l">
              <a:spcBef>
                <a:spcPts val="0"/>
              </a:spcBef>
              <a:spcAft>
                <a:spcPts val="0"/>
              </a:spcAft>
            </a:pPr>
            <a:r>
              <a:rPr sz="1300" b="0" i="0">
                <a:solidFill>
                  <a:srgbClr val="595959"/>
                </a:solidFill>
                <a:latin typeface="Arial"/>
              </a:rPr>
              <a:t>Permisos, impuestos y datos personales</a:t>
            </a:r>
          </a:p>
        </p:txBody>
      </p:sp>
      <p:sp>
        <p:nvSpPr>
          <p:cNvPr id="557" name="Influencia Entes reguladores"/>
          <p:cNvSpPr/>
          <p:nvPr/>
        </p:nvSpPr>
        <p:spPr>
          <a:xfrm>
            <a:off x="9509760" y="4297680"/>
            <a:ext cx="1417320" cy="329184"/>
          </a:xfrm>
          <a:prstGeom prst="roundRect">
            <a:avLst>
              <a:gd name="adj" fmla="val 50000"/>
            </a:avLst>
          </a:prstGeom>
          <a:solidFill>
            <a:srgbClr val="08B2E3"/>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media</a:t>
            </a:r>
          </a:p>
        </p:txBody>
      </p:sp>
      <p:sp>
        <p:nvSpPr>
          <p:cNvPr id="558" name="Actor Equipo consultor"/>
          <p:cNvSpPr/>
          <p:nvPr/>
        </p:nvSpPr>
        <p:spPr>
          <a:xfrm>
            <a:off x="6217920" y="4983480"/>
            <a:ext cx="4846320" cy="868680"/>
          </a:xfrm>
          <a:prstGeom prst="rect">
            <a:avLst/>
          </a:prstGeom>
          <a:solidFill>
            <a:srgbClr val="F0F1FA"/>
          </a:solidFill>
          <a:ln>
            <a:noFill/>
          </a:ln>
        </p:spPr>
        <p:txBody>
          <a:bodyPr rtlCol="0" anchor="ctr" wrap="square" lIns="182880" tIns="91440" rIns="1737360">
            <a:noAutofit/>
          </a:bodyPr>
          <a:lstStyle/>
          <a:p>
            <a:pPr algn="l">
              <a:spcBef>
                <a:spcPts val="0"/>
              </a:spcBef>
              <a:spcAft>
                <a:spcPts val="200"/>
              </a:spcAft>
            </a:pPr>
            <a:r>
              <a:rPr sz="1500" b="1" i="0">
                <a:solidFill>
                  <a:srgbClr val="2B2B2B"/>
                </a:solidFill>
                <a:latin typeface="Arial"/>
              </a:rPr>
              <a:t>Equipo consultor</a:t>
            </a:r>
          </a:p>
          <a:p>
            <a:pPr algn="l">
              <a:spcBef>
                <a:spcPts val="0"/>
              </a:spcBef>
              <a:spcAft>
                <a:spcPts val="0"/>
              </a:spcAft>
            </a:pPr>
            <a:r>
              <a:rPr sz="1300" b="0" i="0">
                <a:solidFill>
                  <a:srgbClr val="595959"/>
                </a:solidFill>
                <a:latin typeface="Arial"/>
              </a:rPr>
              <a:t>Análisis y diseño de la propuesta</a:t>
            </a:r>
          </a:p>
        </p:txBody>
      </p:sp>
      <p:sp>
        <p:nvSpPr>
          <p:cNvPr id="559" name="Influencia Equipo consultor"/>
          <p:cNvSpPr/>
          <p:nvPr/>
        </p:nvSpPr>
        <p:spPr>
          <a:xfrm>
            <a:off x="9509760" y="5257800"/>
            <a:ext cx="1417320" cy="329184"/>
          </a:xfrm>
          <a:prstGeom prst="roundRect">
            <a:avLst>
              <a:gd name="adj" fmla="val 50000"/>
            </a:avLst>
          </a:prstGeom>
          <a:solidFill>
            <a:srgbClr val="08B2E3"/>
          </a:solidFill>
          <a:ln>
            <a:noFill/>
          </a:ln>
        </p:spPr>
        <p:txBody>
          <a:bodyPr rtlCol="0" anchor="ctr" wrap="square" lIns="18288" tIns="0" rIns="18288" bIns="0">
            <a:noAutofit/>
          </a:bodyPr>
          <a:lstStyle/>
          <a:p>
            <a:pPr algn="ctr">
              <a:spcBef>
                <a:spcPts val="0"/>
              </a:spcBef>
              <a:spcAft>
                <a:spcPts val="0"/>
              </a:spcAft>
            </a:pPr>
            <a:r>
              <a:rPr sz="1100" b="1" i="0">
                <a:solidFill>
                  <a:srgbClr val="2B2B2B"/>
                </a:solidFill>
                <a:latin typeface="Arial"/>
              </a:rPr>
              <a:t>Influencia media</a:t>
            </a:r>
          </a:p>
        </p:txBody>
      </p:sp>
      <p:sp>
        <p:nvSpPr>
          <p:cNvPr id="560" name="Nota influencia"/>
          <p:cNvSpPr/>
          <p:nvPr/>
        </p:nvSpPr>
        <p:spPr>
          <a:xfrm>
            <a:off x="1097280" y="5029200"/>
            <a:ext cx="4846320" cy="868680"/>
          </a:xfrm>
          <a:prstGeom prst="rect">
            <a:avLst/>
          </a:prstGeom>
          <a:solidFill>
            <a:srgbClr val="FFF1E0"/>
          </a:solidFill>
          <a:ln>
            <a:noFill/>
          </a:ln>
        </p:spPr>
        <p:txBody>
          <a:bodyPr rtlCol="0" anchor="ctr" wrap="square" lIns="182880" rIns="182880">
            <a:noAutofit/>
          </a:bodyPr>
          <a:lstStyle/>
          <a:p>
            <a:pPr algn="l">
              <a:spcBef>
                <a:spcPts val="0"/>
              </a:spcBef>
              <a:spcAft>
                <a:spcPts val="0"/>
              </a:spcAft>
            </a:pPr>
            <a:r>
              <a:rPr sz="1300" b="1" i="0">
                <a:solidFill>
                  <a:srgbClr val="2B2B2B"/>
                </a:solidFill>
                <a:latin typeface="Arial"/>
              </a:rPr>
              <a:t>Solo los dueños tienen influencia alta sobre el sistema.</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Requerimientos del sistema</a:t>
            </a:r>
            <a:endParaRPr>
              <a:solidFill>
                <a:srgbClr val="595959"/>
              </a:solidFill>
              <a:latin typeface="Nunito Sans ExtraBold"/>
              <a:ea typeface="Nunito Sans ExtraBold"/>
              <a:cs typeface="Nunito Sans ExtraBold"/>
              <a:sym typeface="Nunito Sans ExtraBold"/>
            </a:endParaRPr>
          </a:p>
        </p:txBody>
      </p:sp>
      <p:sp>
        <p:nvSpPr>
          <p:cNvPr id="544" name="Dato 13"/>
          <p:cNvSpPr/>
          <p:nvPr/>
        </p:nvSpPr>
        <p:spPr>
          <a:xfrm>
            <a:off x="1097280" y="1463040"/>
            <a:ext cx="3200400" cy="1005840"/>
          </a:xfrm>
          <a:prstGeom prst="rect">
            <a:avLst/>
          </a:prstGeom>
          <a:solidFill>
            <a:srgbClr val="F0F1FA"/>
          </a:solidFill>
          <a:ln>
            <a:noFill/>
          </a:ln>
        </p:spPr>
        <p:txBody>
          <a:bodyPr rtlCol="0" anchor="ctr" wrap="square" lIns="182880" tIns="0" rIns="137160" bIns="0">
            <a:noAutofit/>
          </a:bodyPr>
          <a:lstStyle/>
          <a:p>
            <a:pPr algn="l">
              <a:spcBef>
                <a:spcPts val="0"/>
              </a:spcBef>
              <a:spcAft>
                <a:spcPts val="0"/>
              </a:spcAft>
            </a:pPr>
            <a:r>
              <a:rPr sz="2800" b="1" i="0">
                <a:solidFill>
                  <a:srgbClr val="014AA0"/>
                </a:solidFill>
                <a:latin typeface="Arial"/>
              </a:rPr>
              <a:t>13</a:t>
            </a:r>
          </a:p>
          <a:p>
            <a:pPr algn="l">
              <a:spcBef>
                <a:spcPts val="0"/>
              </a:spcBef>
              <a:spcAft>
                <a:spcPts val="0"/>
              </a:spcAft>
            </a:pPr>
            <a:r>
              <a:rPr sz="1300" b="0" i="0">
                <a:solidFill>
                  <a:srgbClr val="2B2B2B"/>
                </a:solidFill>
                <a:latin typeface="Arial"/>
              </a:rPr>
              <a:t>requerimientos funcionales</a:t>
            </a:r>
          </a:p>
        </p:txBody>
      </p:sp>
      <p:sp>
        <p:nvSpPr>
          <p:cNvPr id="545" name="Dato 7"/>
          <p:cNvSpPr/>
          <p:nvPr/>
        </p:nvSpPr>
        <p:spPr>
          <a:xfrm>
            <a:off x="4480560" y="1463040"/>
            <a:ext cx="3200400" cy="1005840"/>
          </a:xfrm>
          <a:prstGeom prst="rect">
            <a:avLst/>
          </a:prstGeom>
          <a:solidFill>
            <a:srgbClr val="F0F1FA"/>
          </a:solidFill>
          <a:ln>
            <a:noFill/>
          </a:ln>
        </p:spPr>
        <p:txBody>
          <a:bodyPr rtlCol="0" anchor="ctr" wrap="square" lIns="182880" tIns="0" rIns="137160" bIns="0">
            <a:noAutofit/>
          </a:bodyPr>
          <a:lstStyle/>
          <a:p>
            <a:pPr algn="l">
              <a:spcBef>
                <a:spcPts val="0"/>
              </a:spcBef>
              <a:spcAft>
                <a:spcPts val="0"/>
              </a:spcAft>
            </a:pPr>
            <a:r>
              <a:rPr sz="2800" b="1" i="0">
                <a:solidFill>
                  <a:srgbClr val="D96A00"/>
                </a:solidFill>
                <a:latin typeface="Arial"/>
              </a:rPr>
              <a:t>7</a:t>
            </a:r>
          </a:p>
          <a:p>
            <a:pPr algn="l">
              <a:spcBef>
                <a:spcPts val="0"/>
              </a:spcBef>
              <a:spcAft>
                <a:spcPts val="0"/>
              </a:spcAft>
            </a:pPr>
            <a:r>
              <a:rPr sz="1300" b="0" i="0">
                <a:solidFill>
                  <a:srgbClr val="2B2B2B"/>
                </a:solidFill>
                <a:latin typeface="Arial"/>
              </a:rPr>
              <a:t>requerimientos no funcionales</a:t>
            </a:r>
          </a:p>
        </p:txBody>
      </p:sp>
      <p:sp>
        <p:nvSpPr>
          <p:cNvPr id="546" name="Dato 10 de 13"/>
          <p:cNvSpPr/>
          <p:nvPr/>
        </p:nvSpPr>
        <p:spPr>
          <a:xfrm>
            <a:off x="7863840" y="1463040"/>
            <a:ext cx="3200400" cy="1005840"/>
          </a:xfrm>
          <a:prstGeom prst="rect">
            <a:avLst/>
          </a:prstGeom>
          <a:solidFill>
            <a:srgbClr val="F0F1FA"/>
          </a:solidFill>
          <a:ln>
            <a:noFill/>
          </a:ln>
        </p:spPr>
        <p:txBody>
          <a:bodyPr rtlCol="0" anchor="ctr" wrap="square" lIns="182880" tIns="0" rIns="137160" bIns="0">
            <a:noAutofit/>
          </a:bodyPr>
          <a:lstStyle/>
          <a:p>
            <a:pPr algn="l">
              <a:spcBef>
                <a:spcPts val="0"/>
              </a:spcBef>
              <a:spcAft>
                <a:spcPts val="0"/>
              </a:spcAft>
            </a:pPr>
            <a:r>
              <a:rPr sz="2800" b="1" i="0">
                <a:solidFill>
                  <a:srgbClr val="595959"/>
                </a:solidFill>
                <a:latin typeface="Arial"/>
              </a:rPr>
              <a:t>10 de 13</a:t>
            </a:r>
          </a:p>
          <a:p>
            <a:pPr algn="l">
              <a:spcBef>
                <a:spcPts val="0"/>
              </a:spcBef>
              <a:spcAft>
                <a:spcPts val="0"/>
              </a:spcAft>
            </a:pPr>
            <a:r>
              <a:rPr sz="1300" b="0" i="0">
                <a:solidFill>
                  <a:srgbClr val="2B2B2B"/>
                </a:solidFill>
                <a:latin typeface="Arial"/>
              </a:rPr>
              <a:t>funcionales con prioridad alta</a:t>
            </a:r>
          </a:p>
        </p:txBody>
      </p:sp>
      <p:sp>
        <p:nvSpPr>
          <p:cNvPr id="547" name="TextBox 546"/>
          <p:cNvSpPr txBox="1"/>
          <p:nvPr/>
        </p:nvSpPr>
        <p:spPr>
          <a:xfrm>
            <a:off x="1097280" y="2697480"/>
            <a:ext cx="4846320" cy="274320"/>
          </a:xfrm>
          <a:prstGeom prst="rect">
            <a:avLst/>
          </a:prstGeom>
          <a:noFill/>
        </p:spPr>
        <p:txBody>
          <a:bodyPr wrap="square" lIns="0" tIns="0" rIns="0" bIns="0" anchor="t">
            <a:noAutofit/>
          </a:bodyPr>
          <a:lstStyle/>
          <a:p>
            <a:pPr algn="l">
              <a:spcBef>
                <a:spcPts val="0"/>
              </a:spcBef>
              <a:spcAft>
                <a:spcPts val="0"/>
              </a:spcAft>
            </a:pPr>
            <a:r>
              <a:rPr sz="1200" b="1" i="0">
                <a:solidFill>
                  <a:srgbClr val="595959"/>
                </a:solidFill>
                <a:latin typeface="Arial"/>
              </a:rPr>
              <a:t>REQUERIMIENTOS FUNCIONALES POR MÓDULO</a:t>
            </a:r>
          </a:p>
        </p:txBody>
      </p:sp>
      <p:graphicFrame>
        <p:nvGraphicFramePr>
          <p:cNvPr id="548" name="Grafico RF por modulo"/>
          <p:cNvGraphicFramePr>
            <a:graphicFrameLocks noGrp="1"/>
          </p:cNvGraphicFramePr>
          <p:nvPr/>
        </p:nvGraphicFramePr>
        <p:xfrm>
          <a:off x="1097280" y="3017520"/>
          <a:ext cx="4846320" cy="3154680"/>
        </p:xfrm>
        <a:graphic>
          <a:graphicData uri="http://schemas.openxmlformats.org/drawingml/2006/chart">
            <c:chart r:id="rId2"/>
          </a:graphicData>
        </a:graphic>
      </p:graphicFrame>
      <p:sp>
        <p:nvSpPr>
          <p:cNvPr id="549" name="TextBox 548"/>
          <p:cNvSpPr txBox="1"/>
          <p:nvPr/>
        </p:nvSpPr>
        <p:spPr>
          <a:xfrm>
            <a:off x="6217920" y="2697480"/>
            <a:ext cx="4846320" cy="274320"/>
          </a:xfrm>
          <a:prstGeom prst="rect">
            <a:avLst/>
          </a:prstGeom>
          <a:noFill/>
        </p:spPr>
        <p:txBody>
          <a:bodyPr wrap="square" lIns="0" tIns="0" rIns="0" bIns="0" anchor="t">
            <a:noAutofit/>
          </a:bodyPr>
          <a:lstStyle/>
          <a:p>
            <a:pPr algn="l">
              <a:spcBef>
                <a:spcPts val="0"/>
              </a:spcBef>
              <a:spcAft>
                <a:spcPts val="0"/>
              </a:spcAft>
            </a:pPr>
            <a:r>
              <a:rPr sz="1200" b="1" i="0">
                <a:solidFill>
                  <a:srgbClr val="595959"/>
                </a:solidFill>
                <a:latin typeface="Arial"/>
              </a:rPr>
              <a:t>REQUERIMIENTOS NO FUNCIONALES</a:t>
            </a:r>
          </a:p>
        </p:txBody>
      </p:sp>
      <p:sp>
        <p:nvSpPr>
          <p:cNvPr id="550" name="RNF Usabilidad"/>
          <p:cNvSpPr/>
          <p:nvPr/>
        </p:nvSpPr>
        <p:spPr>
          <a:xfrm>
            <a:off x="6217920" y="30175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Usabilidad:  </a:t>
            </a:r>
            <a:r>
              <a:rPr sz="1300" b="0" i="0">
                <a:solidFill>
                  <a:srgbClr val="2B2B2B"/>
                </a:solidFill>
                <a:latin typeface="Arial"/>
              </a:rPr>
              <a:t>Una venta se registra en menos de 1 minuto</a:t>
            </a:r>
          </a:p>
        </p:txBody>
      </p:sp>
      <p:sp>
        <p:nvSpPr>
          <p:cNvPr id="551" name="RNF Seguridad"/>
          <p:cNvSpPr/>
          <p:nvPr/>
        </p:nvSpPr>
        <p:spPr>
          <a:xfrm>
            <a:off x="6217920" y="34747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Seguridad:  </a:t>
            </a:r>
            <a:r>
              <a:rPr sz="1300" b="0" i="0">
                <a:solidFill>
                  <a:srgbClr val="2B2B2B"/>
                </a:solidFill>
                <a:latin typeface="Arial"/>
              </a:rPr>
              <a:t>Contraseñas cifradas y acceso por rol</a:t>
            </a:r>
          </a:p>
        </p:txBody>
      </p:sp>
      <p:sp>
        <p:nvSpPr>
          <p:cNvPr id="552" name="RNF Disponibilidad"/>
          <p:cNvSpPr/>
          <p:nvPr/>
        </p:nvSpPr>
        <p:spPr>
          <a:xfrm>
            <a:off x="6217920" y="39319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Disponibilidad:  </a:t>
            </a:r>
            <a:r>
              <a:rPr sz="1300" b="0" i="0">
                <a:solidFill>
                  <a:srgbClr val="2B2B2B"/>
                </a:solidFill>
                <a:latin typeface="Arial"/>
              </a:rPr>
              <a:t>Activo durante el horario de atención</a:t>
            </a:r>
          </a:p>
        </p:txBody>
      </p:sp>
      <p:sp>
        <p:nvSpPr>
          <p:cNvPr id="553" name="RNF Respaldo"/>
          <p:cNvSpPr/>
          <p:nvPr/>
        </p:nvSpPr>
        <p:spPr>
          <a:xfrm>
            <a:off x="6217920" y="43891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Respaldo:  </a:t>
            </a:r>
            <a:r>
              <a:rPr sz="1300" b="0" i="0">
                <a:solidFill>
                  <a:srgbClr val="2B2B2B"/>
                </a:solidFill>
                <a:latin typeface="Arial"/>
              </a:rPr>
              <a:t>Copia automática al menos una vez al día</a:t>
            </a:r>
          </a:p>
        </p:txBody>
      </p:sp>
      <p:sp>
        <p:nvSpPr>
          <p:cNvPr id="554" name="RNF Portabilidad"/>
          <p:cNvSpPr/>
          <p:nvPr/>
        </p:nvSpPr>
        <p:spPr>
          <a:xfrm>
            <a:off x="6217920" y="48463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Portabilidad:  </a:t>
            </a:r>
            <a:r>
              <a:rPr sz="1300" b="0" i="0">
                <a:solidFill>
                  <a:srgbClr val="2B2B2B"/>
                </a:solidFill>
                <a:latin typeface="Arial"/>
              </a:rPr>
              <a:t>Uso desde computadora y celular</a:t>
            </a:r>
          </a:p>
        </p:txBody>
      </p:sp>
      <p:sp>
        <p:nvSpPr>
          <p:cNvPr id="555" name="RNF Rendimiento"/>
          <p:cNvSpPr/>
          <p:nvPr/>
        </p:nvSpPr>
        <p:spPr>
          <a:xfrm>
            <a:off x="6217920" y="53035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Rendimiento:  </a:t>
            </a:r>
            <a:r>
              <a:rPr sz="1300" b="0" i="0">
                <a:solidFill>
                  <a:srgbClr val="2B2B2B"/>
                </a:solidFill>
                <a:latin typeface="Arial"/>
              </a:rPr>
              <a:t>Consultas y reportes en menos de 3 segundos</a:t>
            </a:r>
          </a:p>
        </p:txBody>
      </p:sp>
      <p:sp>
        <p:nvSpPr>
          <p:cNvPr id="556" name="RNF Legal"/>
          <p:cNvSpPr/>
          <p:nvPr/>
        </p:nvSpPr>
        <p:spPr>
          <a:xfrm>
            <a:off x="6217920" y="5760720"/>
            <a:ext cx="4846320" cy="420624"/>
          </a:xfrm>
          <a:prstGeom prst="rect">
            <a:avLst/>
          </a:prstGeom>
          <a:solidFill>
            <a:srgbClr val="F0F1FA"/>
          </a:solidFill>
          <a:ln>
            <a:noFill/>
          </a:ln>
        </p:spPr>
        <p:txBody>
          <a:bodyPr rtlCol="0" anchor="ctr" wrap="square" lIns="137160" tIns="0" bIns="0">
            <a:noAutofit/>
          </a:bodyPr>
          <a:lstStyle/>
          <a:p>
            <a:pPr algn="l">
              <a:spcBef>
                <a:spcPts val="0"/>
              </a:spcBef>
              <a:spcAft>
                <a:spcPts val="0"/>
              </a:spcAft>
            </a:pPr>
            <a:r>
              <a:rPr sz="1300" b="1" i="0">
                <a:solidFill>
                  <a:srgbClr val="014AA0"/>
                </a:solidFill>
                <a:latin typeface="Arial"/>
              </a:rPr>
              <a:t>Legal:  </a:t>
            </a:r>
            <a:r>
              <a:rPr sz="1300" b="0" i="0">
                <a:solidFill>
                  <a:srgbClr val="2B2B2B"/>
                </a:solidFill>
                <a:latin typeface="Arial"/>
              </a:rPr>
              <a:t>Datos personales según la Ley N.º 8968</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Casos de uso: 3 actores y 12 funciones</a:t>
            </a:r>
            <a:endParaRPr>
              <a:solidFill>
                <a:srgbClr val="595959"/>
              </a:solidFill>
              <a:latin typeface="Nunito Sans ExtraBold"/>
              <a:ea typeface="Nunito Sans ExtraBold"/>
              <a:cs typeface="Nunito Sans ExtraBold"/>
              <a:sym typeface="Nunito Sans ExtraBold"/>
            </a:endParaRPr>
          </a:p>
        </p:txBody>
      </p:sp>
      <p:pic>
        <p:nvPicPr>
          <p:cNvPr id="544" name="Picture 543" descr="Diagrama general de casos de uso del sistema propuesto"/>
          <p:cNvPicPr>
            <a:picLocks noChangeAspect="1"/>
          </p:cNvPicPr>
          <p:nvPr/>
        </p:nvPicPr>
        <p:blipFill>
          <a:blip r:embed="rId2"/>
          <a:stretch>
            <a:fillRect/>
          </a:stretch>
        </p:blipFill>
        <p:spPr>
          <a:xfrm>
            <a:off x="1097280" y="1508760"/>
            <a:ext cx="6043486" cy="4572000"/>
          </a:xfrm>
          <a:prstGeom prst="rect">
            <a:avLst/>
          </a:prstGeom>
          <a:ln w="9525">
            <a:solidFill>
              <a:srgbClr val="BFC3D4"/>
            </a:solidFill>
          </a:ln>
        </p:spPr>
      </p:pic>
      <p:sp>
        <p:nvSpPr>
          <p:cNvPr id="545" name="Actor Dueño / Administrador"/>
          <p:cNvSpPr/>
          <p:nvPr/>
        </p:nvSpPr>
        <p:spPr>
          <a:xfrm>
            <a:off x="7406640" y="1508760"/>
            <a:ext cx="3657600" cy="1783080"/>
          </a:xfrm>
          <a:prstGeom prst="rect">
            <a:avLst/>
          </a:prstGeom>
          <a:solidFill>
            <a:srgbClr val="014AA0"/>
          </a:solidFill>
          <a:ln>
            <a:noFill/>
          </a:ln>
        </p:spPr>
        <p:txBody>
          <a:bodyPr rtlCol="0" anchor="ctr" wrap="square" lIns="182880" tIns="109728" rIns="137160">
            <a:noAutofit/>
          </a:bodyPr>
          <a:lstStyle/>
          <a:p>
            <a:pPr algn="l">
              <a:spcBef>
                <a:spcPts val="0"/>
              </a:spcBef>
              <a:spcAft>
                <a:spcPts val="400"/>
              </a:spcAft>
            </a:pPr>
            <a:r>
              <a:rPr sz="1600" b="1" i="0">
                <a:solidFill>
                  <a:srgbClr val="FFFFFF"/>
                </a:solidFill>
                <a:latin typeface="Arial"/>
              </a:rPr>
              <a:t>Dueño / Administrador</a:t>
            </a:r>
          </a:p>
          <a:p>
            <a:pPr algn="l">
              <a:spcBef>
                <a:spcPts val="0"/>
              </a:spcBef>
              <a:spcAft>
                <a:spcPts val="0"/>
              </a:spcAft>
            </a:pPr>
            <a:r>
              <a:rPr sz="1350" b="0" i="0">
                <a:solidFill>
                  <a:srgbClr val="FFFFFF"/>
                </a:solidFill>
                <a:latin typeface="Arial"/>
              </a:rPr>
              <a:t>Hereda las funciones de los otros dos. Además gestiona productos, clientes, abonos, ajustes, reportes y usuarios.</a:t>
            </a:r>
          </a:p>
        </p:txBody>
      </p:sp>
      <p:sp>
        <p:nvSpPr>
          <p:cNvPr id="546" name="Actor Encargado de compras"/>
          <p:cNvSpPr/>
          <p:nvPr/>
        </p:nvSpPr>
        <p:spPr>
          <a:xfrm>
            <a:off x="7406640" y="3474720"/>
            <a:ext cx="3657600" cy="1280160"/>
          </a:xfrm>
          <a:prstGeom prst="rect">
            <a:avLst/>
          </a:prstGeom>
          <a:solidFill>
            <a:srgbClr val="FF8303"/>
          </a:solidFill>
          <a:ln>
            <a:noFill/>
          </a:ln>
        </p:spPr>
        <p:txBody>
          <a:bodyPr rtlCol="0" anchor="ctr" wrap="square" lIns="182880" tIns="109728" rIns="137160">
            <a:noAutofit/>
          </a:bodyPr>
          <a:lstStyle/>
          <a:p>
            <a:pPr algn="l">
              <a:spcBef>
                <a:spcPts val="0"/>
              </a:spcBef>
              <a:spcAft>
                <a:spcPts val="400"/>
              </a:spcAft>
            </a:pPr>
            <a:r>
              <a:rPr sz="1600" b="1" i="0">
                <a:solidFill>
                  <a:srgbClr val="2B2B2B"/>
                </a:solidFill>
                <a:latin typeface="Arial"/>
              </a:rPr>
              <a:t>Encargado de compras</a:t>
            </a:r>
          </a:p>
          <a:p>
            <a:pPr algn="l">
              <a:spcBef>
                <a:spcPts val="0"/>
              </a:spcBef>
              <a:spcAft>
                <a:spcPts val="0"/>
              </a:spcAft>
            </a:pPr>
            <a:r>
              <a:rPr sz="1350" b="0" i="0">
                <a:solidFill>
                  <a:srgbClr val="2B2B2B"/>
                </a:solidFill>
                <a:latin typeface="Arial"/>
              </a:rPr>
              <a:t>Gestiona proveedores y registra pedidos y recepciones.</a:t>
            </a:r>
          </a:p>
        </p:txBody>
      </p:sp>
      <p:sp>
        <p:nvSpPr>
          <p:cNvPr id="547" name="Actor Cajero"/>
          <p:cNvSpPr/>
          <p:nvPr/>
        </p:nvSpPr>
        <p:spPr>
          <a:xfrm>
            <a:off x="7406640" y="4937759"/>
            <a:ext cx="3657600" cy="1097280"/>
          </a:xfrm>
          <a:prstGeom prst="rect">
            <a:avLst/>
          </a:prstGeom>
          <a:solidFill>
            <a:srgbClr val="595959"/>
          </a:solidFill>
          <a:ln>
            <a:noFill/>
          </a:ln>
        </p:spPr>
        <p:txBody>
          <a:bodyPr rtlCol="0" anchor="ctr" wrap="square" lIns="182880" tIns="109728" rIns="137160">
            <a:noAutofit/>
          </a:bodyPr>
          <a:lstStyle/>
          <a:p>
            <a:pPr algn="l">
              <a:spcBef>
                <a:spcPts val="0"/>
              </a:spcBef>
              <a:spcAft>
                <a:spcPts val="400"/>
              </a:spcAft>
            </a:pPr>
            <a:r>
              <a:rPr sz="1600" b="1" i="0">
                <a:solidFill>
                  <a:srgbClr val="FFFFFF"/>
                </a:solidFill>
                <a:latin typeface="Arial"/>
              </a:rPr>
              <a:t>Cajero</a:t>
            </a:r>
          </a:p>
          <a:p>
            <a:pPr algn="l">
              <a:spcBef>
                <a:spcPts val="0"/>
              </a:spcBef>
              <a:spcAft>
                <a:spcPts val="0"/>
              </a:spcAft>
            </a:pPr>
            <a:r>
              <a:rPr sz="1350" b="0" i="0">
                <a:solidFill>
                  <a:srgbClr val="FFFFFF"/>
                </a:solidFill>
                <a:latin typeface="Arial"/>
              </a:rPr>
              <a:t>Registra ventas de contado y a crédito.</a:t>
            </a:r>
          </a:p>
        </p:txBody>
      </p:sp>
      <p:sp>
        <p:nvSpPr>
          <p:cNvPr id="548" name="TextBox 547"/>
          <p:cNvSpPr txBox="1"/>
          <p:nvPr/>
        </p:nvSpPr>
        <p:spPr>
          <a:xfrm>
            <a:off x="7406640" y="6217919"/>
            <a:ext cx="3657600" cy="457200"/>
          </a:xfrm>
          <a:prstGeom prst="rect">
            <a:avLst/>
          </a:prstGeom>
          <a:noFill/>
        </p:spPr>
        <p:txBody>
          <a:bodyPr wrap="square" lIns="0" tIns="0" rIns="0" bIns="0" anchor="t">
            <a:noAutofit/>
          </a:bodyPr>
          <a:lstStyle/>
          <a:p>
            <a:pPr algn="l">
              <a:spcBef>
                <a:spcPts val="0"/>
              </a:spcBef>
              <a:spcAft>
                <a:spcPts val="0"/>
              </a:spcAft>
            </a:pPr>
            <a:r>
              <a:rPr sz="1200" b="0" i="1">
                <a:solidFill>
                  <a:srgbClr val="595959"/>
                </a:solidFill>
                <a:latin typeface="Arial"/>
              </a:rPr>
              <a:t>Todos los casos de uso incluyen «Iniciar sesión».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Historias de usuario (14)</a:t>
            </a:r>
            <a:endParaRPr>
              <a:solidFill>
                <a:srgbClr val="595959"/>
              </a:solidFill>
              <a:latin typeface="Nunito Sans ExtraBold"/>
              <a:ea typeface="Nunito Sans ExtraBold"/>
              <a:cs typeface="Nunito Sans ExtraBold"/>
              <a:sym typeface="Nunito Sans ExtraBold"/>
            </a:endParaRPr>
          </a:p>
        </p:txBody>
      </p:sp>
      <p:sp>
        <p:nvSpPr>
          <p:cNvPr id="544" name="Total historias"/>
          <p:cNvSpPr/>
          <p:nvPr/>
        </p:nvSpPr>
        <p:spPr>
          <a:xfrm>
            <a:off x="1097280" y="1508760"/>
            <a:ext cx="3291840" cy="1828800"/>
          </a:xfrm>
          <a:prstGeom prst="rect">
            <a:avLst/>
          </a:prstGeom>
          <a:solidFill>
            <a:srgbClr val="014AA0"/>
          </a:solidFill>
          <a:ln>
            <a:noFill/>
          </a:ln>
        </p:spPr>
        <p:txBody>
          <a:bodyPr rtlCol="0" anchor="ctr" wrap="square" lIns="228600" rIns="182880">
            <a:noAutofit/>
          </a:bodyPr>
          <a:lstStyle/>
          <a:p>
            <a:pPr algn="l">
              <a:spcBef>
                <a:spcPts val="0"/>
              </a:spcBef>
              <a:spcAft>
                <a:spcPts val="0"/>
              </a:spcAft>
            </a:pPr>
            <a:r>
              <a:rPr sz="5400" b="1" i="0">
                <a:solidFill>
                  <a:srgbClr val="FFFFFF"/>
                </a:solidFill>
                <a:latin typeface="Arial"/>
              </a:rPr>
              <a:t>14</a:t>
            </a:r>
          </a:p>
          <a:p>
            <a:pPr algn="l">
              <a:spcBef>
                <a:spcPts val="0"/>
              </a:spcBef>
              <a:spcAft>
                <a:spcPts val="0"/>
              </a:spcAft>
            </a:pPr>
            <a:r>
              <a:rPr sz="1300" b="0" i="0">
                <a:solidFill>
                  <a:srgbClr val="DDE3F0"/>
                </a:solidFill>
                <a:latin typeface="Arial"/>
              </a:rPr>
              <a:t>historias de usuario con criterios de aceptación</a:t>
            </a:r>
          </a:p>
        </p:txBody>
      </p:sp>
      <p:sp>
        <p:nvSpPr>
          <p:cNvPr id="545" name="Rol Dueño"/>
          <p:cNvSpPr/>
          <p:nvPr/>
        </p:nvSpPr>
        <p:spPr>
          <a:xfrm>
            <a:off x="1097280" y="3474720"/>
            <a:ext cx="3291840" cy="530352"/>
          </a:xfrm>
          <a:prstGeom prst="rect">
            <a:avLst/>
          </a:prstGeom>
          <a:solidFill>
            <a:srgbClr val="F0F1FA"/>
          </a:solidFill>
          <a:ln>
            <a:noFill/>
          </a:ln>
        </p:spPr>
        <p:txBody>
          <a:bodyPr rtlCol="0" anchor="ctr" wrap="square" lIns="182880" tIns="0" bIns="0">
            <a:noAutofit/>
          </a:bodyPr>
          <a:lstStyle/>
          <a:p>
            <a:pPr algn="l">
              <a:spcBef>
                <a:spcPts val="0"/>
              </a:spcBef>
              <a:spcAft>
                <a:spcPts val="0"/>
              </a:spcAft>
            </a:pPr>
            <a:r>
              <a:rPr sz="2000" b="1" i="0">
                <a:solidFill>
                  <a:srgbClr val="014AA0"/>
                </a:solidFill>
                <a:latin typeface="Arial"/>
              </a:rPr>
              <a:t>9   </a:t>
            </a:r>
            <a:r>
              <a:rPr sz="1400" b="0" i="0">
                <a:solidFill>
                  <a:srgbClr val="2B2B2B"/>
                </a:solidFill>
                <a:latin typeface="Arial"/>
              </a:rPr>
              <a:t>Dueño</a:t>
            </a:r>
          </a:p>
        </p:txBody>
      </p:sp>
      <p:sp>
        <p:nvSpPr>
          <p:cNvPr id="546" name="Rol Encargado de compras"/>
          <p:cNvSpPr/>
          <p:nvPr/>
        </p:nvSpPr>
        <p:spPr>
          <a:xfrm>
            <a:off x="1097280" y="4069080"/>
            <a:ext cx="3291840" cy="530352"/>
          </a:xfrm>
          <a:prstGeom prst="rect">
            <a:avLst/>
          </a:prstGeom>
          <a:solidFill>
            <a:srgbClr val="F0F1FA"/>
          </a:solidFill>
          <a:ln>
            <a:noFill/>
          </a:ln>
        </p:spPr>
        <p:txBody>
          <a:bodyPr rtlCol="0" anchor="ctr" wrap="square" lIns="182880" tIns="0" bIns="0">
            <a:noAutofit/>
          </a:bodyPr>
          <a:lstStyle/>
          <a:p>
            <a:pPr algn="l">
              <a:spcBef>
                <a:spcPts val="0"/>
              </a:spcBef>
              <a:spcAft>
                <a:spcPts val="0"/>
              </a:spcAft>
            </a:pPr>
            <a:r>
              <a:rPr sz="2000" b="1" i="0">
                <a:solidFill>
                  <a:srgbClr val="D96A00"/>
                </a:solidFill>
                <a:latin typeface="Arial"/>
              </a:rPr>
              <a:t>3   </a:t>
            </a:r>
            <a:r>
              <a:rPr sz="1400" b="0" i="0">
                <a:solidFill>
                  <a:srgbClr val="2B2B2B"/>
                </a:solidFill>
                <a:latin typeface="Arial"/>
              </a:rPr>
              <a:t>Encargado de compras</a:t>
            </a:r>
          </a:p>
        </p:txBody>
      </p:sp>
      <p:sp>
        <p:nvSpPr>
          <p:cNvPr id="547" name="Rol Cajero"/>
          <p:cNvSpPr/>
          <p:nvPr/>
        </p:nvSpPr>
        <p:spPr>
          <a:xfrm>
            <a:off x="1097280" y="4663440"/>
            <a:ext cx="3291840" cy="530352"/>
          </a:xfrm>
          <a:prstGeom prst="rect">
            <a:avLst/>
          </a:prstGeom>
          <a:solidFill>
            <a:srgbClr val="F0F1FA"/>
          </a:solidFill>
          <a:ln>
            <a:noFill/>
          </a:ln>
        </p:spPr>
        <p:txBody>
          <a:bodyPr rtlCol="0" anchor="ctr" wrap="square" lIns="182880" tIns="0" bIns="0">
            <a:noAutofit/>
          </a:bodyPr>
          <a:lstStyle/>
          <a:p>
            <a:pPr algn="l">
              <a:spcBef>
                <a:spcPts val="0"/>
              </a:spcBef>
              <a:spcAft>
                <a:spcPts val="0"/>
              </a:spcAft>
            </a:pPr>
            <a:r>
              <a:rPr sz="2000" b="1" i="0">
                <a:solidFill>
                  <a:srgbClr val="595959"/>
                </a:solidFill>
                <a:latin typeface="Arial"/>
              </a:rPr>
              <a:t>2   </a:t>
            </a:r>
            <a:r>
              <a:rPr sz="1400" b="0" i="0">
                <a:solidFill>
                  <a:srgbClr val="2B2B2B"/>
                </a:solidFill>
                <a:latin typeface="Arial"/>
              </a:rPr>
              <a:t>Cajero</a:t>
            </a:r>
          </a:p>
        </p:txBody>
      </p:sp>
      <p:sp>
        <p:nvSpPr>
          <p:cNvPr id="548" name="TextBox 547"/>
          <p:cNvSpPr txBox="1"/>
          <p:nvPr/>
        </p:nvSpPr>
        <p:spPr>
          <a:xfrm>
            <a:off x="1097280" y="5349240"/>
            <a:ext cx="3291840" cy="822960"/>
          </a:xfrm>
          <a:prstGeom prst="rect">
            <a:avLst/>
          </a:prstGeom>
          <a:noFill/>
        </p:spPr>
        <p:txBody>
          <a:bodyPr wrap="square" lIns="0" tIns="0" rIns="0" bIns="0" anchor="t">
            <a:noAutofit/>
          </a:bodyPr>
          <a:lstStyle/>
          <a:p>
            <a:pPr algn="l">
              <a:spcBef>
                <a:spcPts val="0"/>
              </a:spcBef>
              <a:spcAft>
                <a:spcPts val="0"/>
              </a:spcAft>
            </a:pPr>
            <a:r>
              <a:rPr sz="1250" b="0" i="0">
                <a:solidFill>
                  <a:srgbClr val="595959"/>
                </a:solidFill>
                <a:latin typeface="Arial"/>
              </a:rPr>
              <a:t>Formato «Como…, quiero…, para…» y criterio INVEST. Cada requerimiento funcional queda cubierto (matriz de trazabilidad).</a:t>
            </a:r>
          </a:p>
        </p:txBody>
      </p:sp>
      <p:sp>
        <p:nvSpPr>
          <p:cNvPr id="549" name="Tarjeta HU-07"/>
          <p:cNvSpPr/>
          <p:nvPr/>
        </p:nvSpPr>
        <p:spPr>
          <a:xfrm>
            <a:off x="4663440" y="1508760"/>
            <a:ext cx="6400800" cy="2834640"/>
          </a:xfrm>
          <a:prstGeom prst="rect">
            <a:avLst/>
          </a:prstGeom>
          <a:solidFill>
            <a:srgbClr val="F0F1FA"/>
          </a:solidFill>
          <a:ln>
            <a:noFill/>
          </a:ln>
        </p:spPr>
        <p:txBody>
          <a:bodyPr rtlCol="0" anchor="ctr"/>
          <a:lstStyle/>
          <a:p>
            <a:pPr algn="ctr"/>
          </a:p>
        </p:txBody>
      </p:sp>
      <p:sp>
        <p:nvSpPr>
          <p:cNvPr id="550" name="Texto HU-07"/>
          <p:cNvSpPr txBox="1"/>
          <p:nvPr/>
        </p:nvSpPr>
        <p:spPr>
          <a:xfrm>
            <a:off x="4663440" y="1508760"/>
            <a:ext cx="6400800" cy="2834640"/>
          </a:xfrm>
          <a:prstGeom prst="rect">
            <a:avLst/>
          </a:prstGeom>
          <a:noFill/>
        </p:spPr>
        <p:txBody>
          <a:bodyPr wrap="square" lIns="228600" tIns="164592" rIns="228600" bIns="73152" anchor="t">
            <a:noAutofit/>
          </a:bodyPr>
          <a:lstStyle/>
          <a:p>
            <a:pPr algn="l">
              <a:spcBef>
                <a:spcPts val="0"/>
              </a:spcBef>
              <a:spcAft>
                <a:spcPts val="800"/>
              </a:spcAft>
            </a:pPr>
            <a:r>
              <a:rPr sz="1650" b="1" i="0">
                <a:solidFill>
                  <a:srgbClr val="014AA0"/>
                </a:solidFill>
                <a:latin typeface="Arial"/>
              </a:rPr>
              <a:t>HU-07  </a:t>
            </a:r>
            <a:r>
              <a:rPr sz="1650" b="1" i="0">
                <a:solidFill>
                  <a:srgbClr val="2B2B2B"/>
                </a:solidFill>
                <a:latin typeface="Arial"/>
              </a:rPr>
              <a:t>Como cajero, quiero registrar cada venta, para saber qué se vendió y mantener actualizado el inventario.</a:t>
            </a:r>
          </a:p>
          <a:p>
            <a:pPr algn="l">
              <a:spcBef>
                <a:spcPts val="0"/>
              </a:spcBef>
              <a:spcAft>
                <a:spcPts val="400"/>
              </a:spcAft>
            </a:pPr>
            <a:r>
              <a:rPr sz="1200" b="1" i="0">
                <a:solidFill>
                  <a:srgbClr val="4E8A12"/>
                </a:solidFill>
                <a:latin typeface="Arial"/>
              </a:rPr>
              <a:t>CRITERIOS DE ACEPTACIÓN</a:t>
            </a:r>
          </a:p>
          <a:p>
            <a:pPr algn="l" marL="182880" indent="-182880">
              <a:spcBef>
                <a:spcPts val="0"/>
              </a:spcBef>
              <a:spcAft>
                <a:spcPts val="300"/>
              </a:spcAft>
              <a:buClr>
                <a:srgbClr val="4E8A12"/>
              </a:buClr>
              <a:buFont typeface="Arial"/>
              <a:buChar char="•"/>
            </a:pPr>
            <a:r>
              <a:rPr sz="1450" b="0" i="0">
                <a:solidFill>
                  <a:srgbClr val="2B2B2B"/>
                </a:solidFill>
                <a:latin typeface="Arial"/>
              </a:rPr>
              <a:t>Al confirmar, se registra el detalle y el monto, y se descuenta del inventario.</a:t>
            </a:r>
          </a:p>
          <a:p>
            <a:pPr algn="l" marL="182880" indent="-182880">
              <a:spcBef>
                <a:spcPts val="0"/>
              </a:spcBef>
              <a:spcAft>
                <a:spcPts val="300"/>
              </a:spcAft>
              <a:buClr>
                <a:srgbClr val="4E8A12"/>
              </a:buClr>
              <a:buFont typeface="Arial"/>
              <a:buChar char="•"/>
            </a:pPr>
            <a:r>
              <a:rPr sz="1450" b="0" i="0">
                <a:solidFill>
                  <a:srgbClr val="2B2B2B"/>
                </a:solidFill>
                <a:latin typeface="Arial"/>
              </a:rPr>
              <a:t>La venta queda incluida en el conteo diario.</a:t>
            </a:r>
          </a:p>
          <a:p>
            <a:pPr algn="l" marL="182880" indent="-182880">
              <a:spcBef>
                <a:spcPts val="0"/>
              </a:spcBef>
              <a:spcAft>
                <a:spcPts val="300"/>
              </a:spcAft>
              <a:buClr>
                <a:srgbClr val="4E8A12"/>
              </a:buClr>
              <a:buFont typeface="Arial"/>
              <a:buChar char="•"/>
            </a:pPr>
            <a:r>
              <a:rPr sz="1450" b="0" i="0">
                <a:solidFill>
                  <a:srgbClr val="2B2B2B"/>
                </a:solidFill>
                <a:latin typeface="Arial"/>
              </a:rPr>
              <a:t>Si la cantidad supera la existencia, el sistema advierte y permite continuar tras confirmar.</a:t>
            </a:r>
          </a:p>
        </p:txBody>
      </p:sp>
      <p:sp>
        <p:nvSpPr>
          <p:cNvPr id="551" name="Tarjeta HU-09"/>
          <p:cNvSpPr/>
          <p:nvPr/>
        </p:nvSpPr>
        <p:spPr>
          <a:xfrm>
            <a:off x="4663440" y="4526280"/>
            <a:ext cx="6400800" cy="1645920"/>
          </a:xfrm>
          <a:prstGeom prst="rect">
            <a:avLst/>
          </a:prstGeom>
          <a:solidFill>
            <a:srgbClr val="F0F1FA"/>
          </a:solidFill>
          <a:ln>
            <a:noFill/>
          </a:ln>
        </p:spPr>
        <p:txBody>
          <a:bodyPr rtlCol="0" anchor="ctr"/>
          <a:lstStyle/>
          <a:p>
            <a:pPr algn="ctr"/>
          </a:p>
        </p:txBody>
      </p:sp>
      <p:sp>
        <p:nvSpPr>
          <p:cNvPr id="552" name="Texto HU-09"/>
          <p:cNvSpPr txBox="1"/>
          <p:nvPr/>
        </p:nvSpPr>
        <p:spPr>
          <a:xfrm>
            <a:off x="4663440" y="4526280"/>
            <a:ext cx="6400800" cy="1645920"/>
          </a:xfrm>
          <a:prstGeom prst="rect">
            <a:avLst/>
          </a:prstGeom>
          <a:noFill/>
        </p:spPr>
        <p:txBody>
          <a:bodyPr wrap="square" lIns="228600" tIns="164592" rIns="228600" bIns="73152" anchor="t">
            <a:noAutofit/>
          </a:bodyPr>
          <a:lstStyle/>
          <a:p>
            <a:pPr algn="l">
              <a:spcBef>
                <a:spcPts val="0"/>
              </a:spcBef>
              <a:spcAft>
                <a:spcPts val="800"/>
              </a:spcAft>
            </a:pPr>
            <a:r>
              <a:rPr sz="1650" b="1" i="0">
                <a:solidFill>
                  <a:srgbClr val="014AA0"/>
                </a:solidFill>
                <a:latin typeface="Arial"/>
              </a:rPr>
              <a:t>HU-09  </a:t>
            </a:r>
            <a:r>
              <a:rPr sz="1650" b="1" i="0">
                <a:solidFill>
                  <a:srgbClr val="2B2B2B"/>
                </a:solidFill>
                <a:latin typeface="Arial"/>
              </a:rPr>
              <a:t>Como dueño, quiero registrar los abonos de un cliente, para saber cuánto me debe.</a:t>
            </a:r>
          </a:p>
          <a:p>
            <a:pPr algn="l">
              <a:spcBef>
                <a:spcPts val="0"/>
              </a:spcBef>
              <a:spcAft>
                <a:spcPts val="400"/>
              </a:spcAft>
            </a:pPr>
            <a:r>
              <a:rPr sz="1200" b="1" i="0">
                <a:solidFill>
                  <a:srgbClr val="4E8A12"/>
                </a:solidFill>
                <a:latin typeface="Arial"/>
              </a:rPr>
              <a:t>CRITERIOS DE ACEPTACIÓN</a:t>
            </a:r>
          </a:p>
          <a:p>
            <a:pPr algn="l" marL="182880" indent="-182880">
              <a:spcBef>
                <a:spcPts val="0"/>
              </a:spcBef>
              <a:spcAft>
                <a:spcPts val="300"/>
              </a:spcAft>
              <a:buClr>
                <a:srgbClr val="4E8A12"/>
              </a:buClr>
              <a:buFont typeface="Arial"/>
              <a:buChar char="•"/>
            </a:pPr>
            <a:r>
              <a:rPr sz="1450" b="0" i="0">
                <a:solidFill>
                  <a:srgbClr val="2B2B2B"/>
                </a:solidFill>
                <a:latin typeface="Arial"/>
              </a:rPr>
              <a:t>Al registrar un abono, el saldo disminuye.</a:t>
            </a:r>
          </a:p>
          <a:p>
            <a:pPr algn="l" marL="182880" indent="-182880">
              <a:spcBef>
                <a:spcPts val="0"/>
              </a:spcBef>
              <a:spcAft>
                <a:spcPts val="300"/>
              </a:spcAft>
              <a:buClr>
                <a:srgbClr val="4E8A12"/>
              </a:buClr>
              <a:buFont typeface="Arial"/>
              <a:buChar char="•"/>
            </a:pPr>
            <a:r>
              <a:rPr sz="1450" b="0" i="0">
                <a:solidFill>
                  <a:srgbClr val="2B2B2B"/>
                </a:solidFill>
                <a:latin typeface="Arial"/>
              </a:rPr>
              <a:t>No se permite un abono mayor al saldo pendiente.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Evaluación de riesgos</a:t>
            </a:r>
            <a:endParaRPr>
              <a:solidFill>
                <a:srgbClr val="595959"/>
              </a:solidFill>
              <a:latin typeface="Nunito Sans ExtraBold"/>
              <a:ea typeface="Nunito Sans ExtraBold"/>
              <a:cs typeface="Nunito Sans ExtraBold"/>
              <a:sym typeface="Nunito Sans ExtraBold"/>
            </a:endParaRPr>
          </a:p>
        </p:txBody>
      </p:sp>
      <p:graphicFrame>
        <p:nvGraphicFramePr>
          <p:cNvPr id="544" name="Matriz de riesgos"/>
          <p:cNvGraphicFramePr>
            <a:graphicFrameLocks noGrp="1"/>
          </p:cNvGraphicFramePr>
          <p:nvPr/>
        </p:nvGraphicFramePr>
        <p:xfrm>
          <a:off x="1097280" y="1508760"/>
          <a:ext cx="9966960" cy="4617720"/>
        </p:xfrm>
        <a:graphic>
          <a:graphicData uri="http://schemas.openxmlformats.org/drawingml/2006/table">
            <a:tbl>
              <a:tblPr firstRow="1" bandRow="1">
                <a:tableStyleId>{5C22544A-7EE6-4342-B048-85BDC9FD1C3A}</a:tableStyleId>
              </a:tblPr>
              <a:tblGrid>
                <a:gridCol w="3108960"/>
                <a:gridCol w="1508760"/>
                <a:gridCol w="1097280"/>
                <a:gridCol w="4251960"/>
              </a:tblGrid>
              <a:tr h="457200">
                <a:tc>
                  <a:txBody>
                    <a:bodyPr wrap="square"/>
                    <a:lstStyle/>
                    <a:p>
                      <a:pPr algn="l"/>
                      <a:r>
                        <a:rPr sz="1400" b="1">
                          <a:solidFill>
                            <a:srgbClr val="FFFFFF"/>
                          </a:solidFill>
                          <a:latin typeface="Arial"/>
                        </a:rPr>
                        <a:t>Riesgo</a:t>
                      </a:r>
                    </a:p>
                  </a:txBody>
                  <a:tcPr marL="109728" marR="73152" marT="36576" marB="36576" anchor="ctr">
                    <a:solidFill>
                      <a:srgbClr val="014AA0"/>
                    </a:solidFill>
                  </a:tcPr>
                </a:tc>
                <a:tc>
                  <a:txBody>
                    <a:bodyPr wrap="square"/>
                    <a:lstStyle/>
                    <a:p>
                      <a:pPr algn="ctr"/>
                      <a:r>
                        <a:rPr sz="1400" b="1">
                          <a:solidFill>
                            <a:srgbClr val="FFFFFF"/>
                          </a:solidFill>
                          <a:latin typeface="Arial"/>
                        </a:rPr>
                        <a:t>Probabilidad</a:t>
                      </a:r>
                    </a:p>
                  </a:txBody>
                  <a:tcPr marL="109728" marR="73152" marT="36576" marB="36576" anchor="ctr">
                    <a:solidFill>
                      <a:srgbClr val="014AA0"/>
                    </a:solidFill>
                  </a:tcPr>
                </a:tc>
                <a:tc>
                  <a:txBody>
                    <a:bodyPr wrap="square"/>
                    <a:lstStyle/>
                    <a:p>
                      <a:pPr algn="ctr"/>
                      <a:r>
                        <a:rPr sz="1400" b="1">
                          <a:solidFill>
                            <a:srgbClr val="FFFFFF"/>
                          </a:solidFill>
                          <a:latin typeface="Arial"/>
                        </a:rPr>
                        <a:t>Impacto</a:t>
                      </a:r>
                    </a:p>
                  </a:txBody>
                  <a:tcPr marL="109728" marR="73152" marT="36576" marB="36576" anchor="ctr">
                    <a:solidFill>
                      <a:srgbClr val="014AA0"/>
                    </a:solidFill>
                  </a:tcPr>
                </a:tc>
                <a:tc>
                  <a:txBody>
                    <a:bodyPr wrap="square"/>
                    <a:lstStyle/>
                    <a:p>
                      <a:pPr algn="l"/>
                      <a:r>
                        <a:rPr sz="1400" b="1">
                          <a:solidFill>
                            <a:srgbClr val="FFFFFF"/>
                          </a:solidFill>
                          <a:latin typeface="Arial"/>
                        </a:rPr>
                        <a:t>Mitigación</a:t>
                      </a:r>
                    </a:p>
                  </a:txBody>
                  <a:tcPr marL="109728" marR="73152" marT="36576" marB="36576" anchor="ctr">
                    <a:solidFill>
                      <a:srgbClr val="014AA0"/>
                    </a:solidFill>
                  </a:tcPr>
                </a:tc>
              </a:tr>
              <a:tr h="594360">
                <a:tc>
                  <a:txBody>
                    <a:bodyPr wrap="square"/>
                    <a:lstStyle/>
                    <a:p>
                      <a:pPr algn="l"/>
                      <a:r>
                        <a:rPr sz="1350" b="1">
                          <a:solidFill>
                            <a:srgbClr val="2B2B2B"/>
                          </a:solidFill>
                          <a:latin typeface="Arial"/>
                        </a:rPr>
                        <a:t>Resistencia del personal a usar el sistema</a:t>
                      </a:r>
                    </a:p>
                  </a:txBody>
                  <a:tcPr marL="109728" marR="73152" marT="36576" marB="36576" anchor="ctr">
                    <a:solidFill>
                      <a:srgbClr val="FFFFFF"/>
                    </a:solidFill>
                  </a:tcPr>
                </a:tc>
                <a:tc>
                  <a:txBody>
                    <a:bodyPr wrap="square"/>
                    <a:lstStyle/>
                    <a:p>
                      <a:pPr algn="ctr"/>
                      <a:r>
                        <a:rPr sz="1350" b="1">
                          <a:solidFill>
                            <a:srgbClr val="2B2B2B"/>
                          </a:solidFill>
                          <a:latin typeface="Arial"/>
                        </a:rPr>
                        <a:t>Media</a:t>
                      </a:r>
                    </a:p>
                  </a:txBody>
                  <a:tcPr marL="109728" marR="73152" marT="36576" marB="36576" anchor="ctr">
                    <a:solidFill>
                      <a:srgbClr val="FFE0BC"/>
                    </a:solidFill>
                  </a:tcPr>
                </a:tc>
                <a:tc>
                  <a:txBody>
                    <a:bodyPr wrap="square"/>
                    <a:lstStyle/>
                    <a:p>
                      <a:pPr algn="ctr"/>
                      <a:r>
                        <a:rPr sz="1350" b="1">
                          <a:solidFill>
                            <a:srgbClr val="2B2B2B"/>
                          </a:solidFill>
                          <a:latin typeface="Arial"/>
                        </a:rPr>
                        <a:t>Alto</a:t>
                      </a:r>
                    </a:p>
                  </a:txBody>
                  <a:tcPr marL="109728" marR="73152" marT="36576" marB="36576" anchor="ctr">
                    <a:solidFill>
                      <a:srgbClr val="FFB366"/>
                    </a:solidFill>
                  </a:tcPr>
                </a:tc>
                <a:tc>
                  <a:txBody>
                    <a:bodyPr wrap="square"/>
                    <a:lstStyle/>
                    <a:p>
                      <a:pPr algn="l"/>
                      <a:r>
                        <a:rPr sz="1350" b="0">
                          <a:solidFill>
                            <a:srgbClr val="2B2B2B"/>
                          </a:solidFill>
                          <a:latin typeface="Arial"/>
                        </a:rPr>
                        <a:t>Pantallas sencillas, capacitación corta y acompañamiento inicial</a:t>
                      </a:r>
                    </a:p>
                  </a:txBody>
                  <a:tcPr marL="109728" marR="73152" marT="36576" marB="36576" anchor="ctr">
                    <a:solidFill>
                      <a:srgbClr val="FFFFFF"/>
                    </a:solidFill>
                  </a:tcPr>
                </a:tc>
              </a:tr>
              <a:tr h="594360">
                <a:tc>
                  <a:txBody>
                    <a:bodyPr wrap="square"/>
                    <a:lstStyle/>
                    <a:p>
                      <a:pPr algn="l"/>
                      <a:r>
                        <a:rPr sz="1350" b="1">
                          <a:solidFill>
                            <a:srgbClr val="2B2B2B"/>
                          </a:solidFill>
                          <a:latin typeface="Arial"/>
                        </a:rPr>
                        <a:t>Datos iniciales incompletos</a:t>
                      </a:r>
                    </a:p>
                  </a:txBody>
                  <a:tcPr marL="109728" marR="73152" marT="36576" marB="36576" anchor="ctr">
                    <a:solidFill>
                      <a:srgbClr val="F0F1FA"/>
                    </a:solidFill>
                  </a:tcPr>
                </a:tc>
                <a:tc>
                  <a:txBody>
                    <a:bodyPr wrap="square"/>
                    <a:lstStyle/>
                    <a:p>
                      <a:pPr algn="ctr"/>
                      <a:r>
                        <a:rPr sz="1350" b="1">
                          <a:solidFill>
                            <a:srgbClr val="2B2B2B"/>
                          </a:solidFill>
                          <a:latin typeface="Arial"/>
                        </a:rPr>
                        <a:t>Alta</a:t>
                      </a:r>
                    </a:p>
                  </a:txBody>
                  <a:tcPr marL="109728" marR="73152" marT="36576" marB="36576" anchor="ctr">
                    <a:solidFill>
                      <a:srgbClr val="FFB366"/>
                    </a:solidFill>
                  </a:tcPr>
                </a:tc>
                <a:tc>
                  <a:txBody>
                    <a:bodyPr wrap="square"/>
                    <a:lstStyle/>
                    <a:p>
                      <a:pPr algn="ctr"/>
                      <a:r>
                        <a:rPr sz="1350" b="1">
                          <a:solidFill>
                            <a:srgbClr val="2B2B2B"/>
                          </a:solidFill>
                          <a:latin typeface="Arial"/>
                        </a:rPr>
                        <a:t>Medio</a:t>
                      </a:r>
                    </a:p>
                  </a:txBody>
                  <a:tcPr marL="109728" marR="73152" marT="36576" marB="36576" anchor="ctr">
                    <a:solidFill>
                      <a:srgbClr val="FFE0BC"/>
                    </a:solidFill>
                  </a:tcPr>
                </a:tc>
                <a:tc>
                  <a:txBody>
                    <a:bodyPr wrap="square"/>
                    <a:lstStyle/>
                    <a:p>
                      <a:pPr algn="l"/>
                      <a:r>
                        <a:rPr sz="1350" b="0">
                          <a:solidFill>
                            <a:srgbClr val="2B2B2B"/>
                          </a:solidFill>
                          <a:latin typeface="Arial"/>
                        </a:rPr>
                        <a:t>Conteo físico inicial y saldos validados con los clientes</a:t>
                      </a:r>
                    </a:p>
                  </a:txBody>
                  <a:tcPr marL="109728" marR="73152" marT="36576" marB="36576" anchor="ctr">
                    <a:solidFill>
                      <a:srgbClr val="F0F1FA"/>
                    </a:solidFill>
                  </a:tcPr>
                </a:tc>
              </a:tr>
              <a:tr h="594360">
                <a:tc>
                  <a:txBody>
                    <a:bodyPr wrap="square"/>
                    <a:lstStyle/>
                    <a:p>
                      <a:pPr algn="l"/>
                      <a:r>
                        <a:rPr sz="1350" b="1">
                          <a:solidFill>
                            <a:srgbClr val="2B2B2B"/>
                          </a:solidFill>
                          <a:latin typeface="Arial"/>
                        </a:rPr>
                        <a:t>Falla de internet o del equipo</a:t>
                      </a:r>
                    </a:p>
                  </a:txBody>
                  <a:tcPr marL="109728" marR="73152" marT="36576" marB="36576" anchor="ctr">
                    <a:solidFill>
                      <a:srgbClr val="FFFFFF"/>
                    </a:solidFill>
                  </a:tcPr>
                </a:tc>
                <a:tc>
                  <a:txBody>
                    <a:bodyPr wrap="square"/>
                    <a:lstStyle/>
                    <a:p>
                      <a:pPr algn="ctr"/>
                      <a:r>
                        <a:rPr sz="1350" b="1">
                          <a:solidFill>
                            <a:srgbClr val="2B2B2B"/>
                          </a:solidFill>
                          <a:latin typeface="Arial"/>
                        </a:rPr>
                        <a:t>Media</a:t>
                      </a:r>
                    </a:p>
                  </a:txBody>
                  <a:tcPr marL="109728" marR="73152" marT="36576" marB="36576" anchor="ctr">
                    <a:solidFill>
                      <a:srgbClr val="FFE0BC"/>
                    </a:solidFill>
                  </a:tcPr>
                </a:tc>
                <a:tc>
                  <a:txBody>
                    <a:bodyPr wrap="square"/>
                    <a:lstStyle/>
                    <a:p>
                      <a:pPr algn="ctr"/>
                      <a:r>
                        <a:rPr sz="1350" b="1">
                          <a:solidFill>
                            <a:srgbClr val="2B2B2B"/>
                          </a:solidFill>
                          <a:latin typeface="Arial"/>
                        </a:rPr>
                        <a:t>Alto</a:t>
                      </a:r>
                    </a:p>
                  </a:txBody>
                  <a:tcPr marL="109728" marR="73152" marT="36576" marB="36576" anchor="ctr">
                    <a:solidFill>
                      <a:srgbClr val="FFB366"/>
                    </a:solidFill>
                  </a:tcPr>
                </a:tc>
                <a:tc>
                  <a:txBody>
                    <a:bodyPr wrap="square"/>
                    <a:lstStyle/>
                    <a:p>
                      <a:pPr algn="l"/>
                      <a:r>
                        <a:rPr sz="1350" b="0">
                          <a:solidFill>
                            <a:srgbClr val="2B2B2B"/>
                          </a:solidFill>
                          <a:latin typeface="Arial"/>
                        </a:rPr>
                        <a:t>Respaldo diario y procedimiento manual temporal</a:t>
                      </a:r>
                    </a:p>
                  </a:txBody>
                  <a:tcPr marL="109728" marR="73152" marT="36576" marB="36576" anchor="ctr">
                    <a:solidFill>
                      <a:srgbClr val="FFFFFF"/>
                    </a:solidFill>
                  </a:tcPr>
                </a:tc>
              </a:tr>
              <a:tr h="594360">
                <a:tc>
                  <a:txBody>
                    <a:bodyPr wrap="square"/>
                    <a:lstStyle/>
                    <a:p>
                      <a:pPr algn="l"/>
                      <a:r>
                        <a:rPr sz="1350" b="1">
                          <a:solidFill>
                            <a:srgbClr val="2B2B2B"/>
                          </a:solidFill>
                          <a:latin typeface="Arial"/>
                        </a:rPr>
                        <a:t>Sin computadora o internet adecuados (por confirmar)</a:t>
                      </a:r>
                    </a:p>
                  </a:txBody>
                  <a:tcPr marL="109728" marR="73152" marT="36576" marB="36576" anchor="ctr">
                    <a:solidFill>
                      <a:srgbClr val="F0F1FA"/>
                    </a:solidFill>
                  </a:tcPr>
                </a:tc>
                <a:tc>
                  <a:txBody>
                    <a:bodyPr wrap="square"/>
                    <a:lstStyle/>
                    <a:p>
                      <a:pPr algn="ctr"/>
                      <a:r>
                        <a:rPr sz="1350" b="1">
                          <a:solidFill>
                            <a:srgbClr val="2B2B2B"/>
                          </a:solidFill>
                          <a:latin typeface="Arial"/>
                        </a:rPr>
                        <a:t>Media</a:t>
                      </a:r>
                    </a:p>
                  </a:txBody>
                  <a:tcPr marL="109728" marR="73152" marT="36576" marB="36576" anchor="ctr">
                    <a:solidFill>
                      <a:srgbClr val="FFE0BC"/>
                    </a:solidFill>
                  </a:tcPr>
                </a:tc>
                <a:tc>
                  <a:txBody>
                    <a:bodyPr wrap="square"/>
                    <a:lstStyle/>
                    <a:p>
                      <a:pPr algn="ctr"/>
                      <a:r>
                        <a:rPr sz="1350" b="1">
                          <a:solidFill>
                            <a:srgbClr val="2B2B2B"/>
                          </a:solidFill>
                          <a:latin typeface="Arial"/>
                        </a:rPr>
                        <a:t>Alto</a:t>
                      </a:r>
                    </a:p>
                  </a:txBody>
                  <a:tcPr marL="109728" marR="73152" marT="36576" marB="36576" anchor="ctr">
                    <a:solidFill>
                      <a:srgbClr val="FFB366"/>
                    </a:solidFill>
                  </a:tcPr>
                </a:tc>
                <a:tc>
                  <a:txBody>
                    <a:bodyPr wrap="square"/>
                    <a:lstStyle/>
                    <a:p>
                      <a:pPr algn="l"/>
                      <a:r>
                        <a:rPr sz="1350" b="0">
                          <a:solidFill>
                            <a:srgbClr val="2B2B2B"/>
                          </a:solidFill>
                          <a:latin typeface="Arial"/>
                        </a:rPr>
                        <a:t>Confirmar equipo con los dueños y priorizar el celular</a:t>
                      </a:r>
                    </a:p>
                  </a:txBody>
                  <a:tcPr marL="109728" marR="73152" marT="36576" marB="36576" anchor="ctr">
                    <a:solidFill>
                      <a:srgbClr val="F0F1FA"/>
                    </a:solidFill>
                  </a:tcPr>
                </a:tc>
              </a:tr>
              <a:tr h="594360">
                <a:tc>
                  <a:txBody>
                    <a:bodyPr wrap="square"/>
                    <a:lstStyle/>
                    <a:p>
                      <a:pPr algn="l"/>
                      <a:r>
                        <a:rPr sz="1350" b="1">
                          <a:solidFill>
                            <a:srgbClr val="2B2B2B"/>
                          </a:solidFill>
                          <a:latin typeface="Arial"/>
                        </a:rPr>
                        <a:t>Fuga de datos de clientes</a:t>
                      </a:r>
                    </a:p>
                  </a:txBody>
                  <a:tcPr marL="109728" marR="73152" marT="36576" marB="36576" anchor="ctr">
                    <a:solidFill>
                      <a:srgbClr val="FFFFFF"/>
                    </a:solidFill>
                  </a:tcPr>
                </a:tc>
                <a:tc>
                  <a:txBody>
                    <a:bodyPr wrap="square"/>
                    <a:lstStyle/>
                    <a:p>
                      <a:pPr algn="ctr"/>
                      <a:r>
                        <a:rPr sz="1350" b="1">
                          <a:solidFill>
                            <a:srgbClr val="2B2B2B"/>
                          </a:solidFill>
                          <a:latin typeface="Arial"/>
                        </a:rPr>
                        <a:t>Baja</a:t>
                      </a:r>
                    </a:p>
                  </a:txBody>
                  <a:tcPr marL="109728" marR="73152" marT="36576" marB="36576" anchor="ctr">
                    <a:solidFill>
                      <a:srgbClr val="DDEFC4"/>
                    </a:solidFill>
                  </a:tcPr>
                </a:tc>
                <a:tc>
                  <a:txBody>
                    <a:bodyPr wrap="square"/>
                    <a:lstStyle/>
                    <a:p>
                      <a:pPr algn="ctr"/>
                      <a:r>
                        <a:rPr sz="1350" b="1">
                          <a:solidFill>
                            <a:srgbClr val="2B2B2B"/>
                          </a:solidFill>
                          <a:latin typeface="Arial"/>
                        </a:rPr>
                        <a:t>Alto</a:t>
                      </a:r>
                    </a:p>
                  </a:txBody>
                  <a:tcPr marL="109728" marR="73152" marT="36576" marB="36576" anchor="ctr">
                    <a:solidFill>
                      <a:srgbClr val="FFB366"/>
                    </a:solidFill>
                  </a:tcPr>
                </a:tc>
                <a:tc>
                  <a:txBody>
                    <a:bodyPr wrap="square"/>
                    <a:lstStyle/>
                    <a:p>
                      <a:pPr algn="l"/>
                      <a:r>
                        <a:rPr sz="1350" b="0">
                          <a:solidFill>
                            <a:srgbClr val="2B2B2B"/>
                          </a:solidFill>
                          <a:latin typeface="Arial"/>
                        </a:rPr>
                        <a:t>Usuarios con contraseña, roles y respaldos cifrados</a:t>
                      </a:r>
                    </a:p>
                  </a:txBody>
                  <a:tcPr marL="109728" marR="73152" marT="36576" marB="36576" anchor="ctr">
                    <a:solidFill>
                      <a:srgbClr val="FFFFFF"/>
                    </a:solidFill>
                  </a:tcPr>
                </a:tc>
              </a:tr>
              <a:tr h="594360">
                <a:tc>
                  <a:txBody>
                    <a:bodyPr wrap="square"/>
                    <a:lstStyle/>
                    <a:p>
                      <a:pPr algn="l"/>
                      <a:r>
                        <a:rPr sz="1350" b="1">
                          <a:solidFill>
                            <a:srgbClr val="2B2B2B"/>
                          </a:solidFill>
                          <a:latin typeface="Arial"/>
                        </a:rPr>
                        <a:t>Cambios en los requerimientos</a:t>
                      </a:r>
                    </a:p>
                  </a:txBody>
                  <a:tcPr marL="109728" marR="73152" marT="36576" marB="36576" anchor="ctr">
                    <a:solidFill>
                      <a:srgbClr val="F0F1FA"/>
                    </a:solidFill>
                  </a:tcPr>
                </a:tc>
                <a:tc>
                  <a:txBody>
                    <a:bodyPr wrap="square"/>
                    <a:lstStyle/>
                    <a:p>
                      <a:pPr algn="ctr"/>
                      <a:r>
                        <a:rPr sz="1350" b="1">
                          <a:solidFill>
                            <a:srgbClr val="2B2B2B"/>
                          </a:solidFill>
                          <a:latin typeface="Arial"/>
                        </a:rPr>
                        <a:t>Media</a:t>
                      </a:r>
                    </a:p>
                  </a:txBody>
                  <a:tcPr marL="109728" marR="73152" marT="36576" marB="36576" anchor="ctr">
                    <a:solidFill>
                      <a:srgbClr val="FFE0BC"/>
                    </a:solidFill>
                  </a:tcPr>
                </a:tc>
                <a:tc>
                  <a:txBody>
                    <a:bodyPr wrap="square"/>
                    <a:lstStyle/>
                    <a:p>
                      <a:pPr algn="ctr"/>
                      <a:r>
                        <a:rPr sz="1350" b="1">
                          <a:solidFill>
                            <a:srgbClr val="2B2B2B"/>
                          </a:solidFill>
                          <a:latin typeface="Arial"/>
                        </a:rPr>
                        <a:t>Medio</a:t>
                      </a:r>
                    </a:p>
                  </a:txBody>
                  <a:tcPr marL="109728" marR="73152" marT="36576" marB="36576" anchor="ctr">
                    <a:solidFill>
                      <a:srgbClr val="FFE0BC"/>
                    </a:solidFill>
                  </a:tcPr>
                </a:tc>
                <a:tc>
                  <a:txBody>
                    <a:bodyPr wrap="square"/>
                    <a:lstStyle/>
                    <a:p>
                      <a:pPr algn="l"/>
                      <a:r>
                        <a:rPr sz="1350" b="0">
                          <a:solidFill>
                            <a:srgbClr val="2B2B2B"/>
                          </a:solidFill>
                          <a:latin typeface="Arial"/>
                        </a:rPr>
                        <a:t>Gestión de cambios mediante RFC</a:t>
                      </a:r>
                    </a:p>
                  </a:txBody>
                  <a:tcPr marL="109728" marR="73152" marT="36576" marB="36576" anchor="ctr">
                    <a:solidFill>
                      <a:srgbClr val="F0F1FA"/>
                    </a:solidFill>
                  </a:tcPr>
                </a:tc>
              </a:tr>
              <a:tr h="594360">
                <a:tc>
                  <a:txBody>
                    <a:bodyPr wrap="square"/>
                    <a:lstStyle/>
                    <a:p>
                      <a:pPr algn="l"/>
                      <a:r>
                        <a:rPr sz="1350" b="1">
                          <a:solidFill>
                            <a:srgbClr val="2B2B2B"/>
                          </a:solidFill>
                          <a:latin typeface="Arial"/>
                        </a:rPr>
                        <a:t>Poca disponibilidad de los dueños</a:t>
                      </a:r>
                    </a:p>
                  </a:txBody>
                  <a:tcPr marL="109728" marR="73152" marT="36576" marB="36576" anchor="ctr">
                    <a:solidFill>
                      <a:srgbClr val="FFFFFF"/>
                    </a:solidFill>
                  </a:tcPr>
                </a:tc>
                <a:tc>
                  <a:txBody>
                    <a:bodyPr wrap="square"/>
                    <a:lstStyle/>
                    <a:p>
                      <a:pPr algn="ctr"/>
                      <a:r>
                        <a:rPr sz="1350" b="1">
                          <a:solidFill>
                            <a:srgbClr val="2B2B2B"/>
                          </a:solidFill>
                          <a:latin typeface="Arial"/>
                        </a:rPr>
                        <a:t>Media</a:t>
                      </a:r>
                    </a:p>
                  </a:txBody>
                  <a:tcPr marL="109728" marR="73152" marT="36576" marB="36576" anchor="ctr">
                    <a:solidFill>
                      <a:srgbClr val="FFE0BC"/>
                    </a:solidFill>
                  </a:tcPr>
                </a:tc>
                <a:tc>
                  <a:txBody>
                    <a:bodyPr wrap="square"/>
                    <a:lstStyle/>
                    <a:p>
                      <a:pPr algn="ctr"/>
                      <a:r>
                        <a:rPr sz="1350" b="1">
                          <a:solidFill>
                            <a:srgbClr val="2B2B2B"/>
                          </a:solidFill>
                          <a:latin typeface="Arial"/>
                        </a:rPr>
                        <a:t>Medio</a:t>
                      </a:r>
                    </a:p>
                  </a:txBody>
                  <a:tcPr marL="109728" marR="73152" marT="36576" marB="36576" anchor="ctr">
                    <a:solidFill>
                      <a:srgbClr val="FFE0BC"/>
                    </a:solidFill>
                  </a:tcPr>
                </a:tc>
                <a:tc>
                  <a:txBody>
                    <a:bodyPr wrap="square"/>
                    <a:lstStyle/>
                    <a:p>
                      <a:pPr algn="l"/>
                      <a:r>
                        <a:rPr sz="1350" b="0">
                          <a:solidFill>
                            <a:srgbClr val="2B2B2B"/>
                          </a:solidFill>
                          <a:latin typeface="Arial"/>
                        </a:rPr>
                        <a:t>Reuniones cortas y validación por WhatsApp</a:t>
                      </a:r>
                    </a:p>
                  </a:txBody>
                  <a:tcPr marL="109728" marR="73152"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Conclusiones y recomendaciones</a:t>
            </a:r>
            <a:endParaRPr>
              <a:solidFill>
                <a:srgbClr val="595959"/>
              </a:solidFill>
              <a:latin typeface="Nunito Sans ExtraBold"/>
              <a:ea typeface="Nunito Sans ExtraBold"/>
              <a:cs typeface="Nunito Sans ExtraBold"/>
              <a:sym typeface="Nunito Sans ExtraBold"/>
            </a:endParaRPr>
          </a:p>
        </p:txBody>
      </p:sp>
      <p:sp>
        <p:nvSpPr>
          <p:cNvPr id="544" name="Encabezado conclusiones"/>
          <p:cNvSpPr/>
          <p:nvPr/>
        </p:nvSpPr>
        <p:spPr>
          <a:xfrm>
            <a:off x="1097280" y="1508760"/>
            <a:ext cx="4846320" cy="502920"/>
          </a:xfrm>
          <a:prstGeom prst="rect">
            <a:avLst/>
          </a:prstGeom>
          <a:solidFill>
            <a:srgbClr val="014AA0"/>
          </a:solidFill>
          <a:ln>
            <a:noFill/>
          </a:ln>
        </p:spPr>
        <p:txBody>
          <a:bodyPr rtlCol="0" anchor="ctr" wrap="square" lIns="228600" tIns="0" bIns="0">
            <a:noAutofit/>
          </a:bodyPr>
          <a:lstStyle/>
          <a:p>
            <a:pPr algn="l">
              <a:spcBef>
                <a:spcPts val="0"/>
              </a:spcBef>
              <a:spcAft>
                <a:spcPts val="0"/>
              </a:spcAft>
            </a:pPr>
            <a:r>
              <a:rPr sz="1600" b="1" i="0">
                <a:solidFill>
                  <a:srgbClr val="FFFFFF"/>
                </a:solidFill>
                <a:latin typeface="Arial"/>
              </a:rPr>
              <a:t>Conclusiones</a:t>
            </a:r>
          </a:p>
        </p:txBody>
      </p:sp>
      <p:sp>
        <p:nvSpPr>
          <p:cNvPr id="545" name="Lista conclusiones"/>
          <p:cNvSpPr/>
          <p:nvPr/>
        </p:nvSpPr>
        <p:spPr>
          <a:xfrm>
            <a:off x="1097280" y="2011680"/>
            <a:ext cx="4846320" cy="3291840"/>
          </a:xfrm>
          <a:prstGeom prst="rect">
            <a:avLst/>
          </a:prstGeom>
          <a:solidFill>
            <a:srgbClr val="F0F1FA"/>
          </a:solidFill>
          <a:ln>
            <a:noFill/>
          </a:ln>
        </p:spPr>
        <p:txBody>
          <a:bodyPr rtlCol="0" anchor="t" wrap="square" lIns="228600" tIns="228600" rIns="182880" bIns="91440">
            <a:noAutofit/>
          </a:bodyPr>
          <a:lstStyle/>
          <a:p>
            <a:pPr algn="l" marL="182880" indent="-182880">
              <a:spcBef>
                <a:spcPts val="0"/>
              </a:spcBef>
              <a:spcAft>
                <a:spcPts val="1000"/>
              </a:spcAft>
              <a:buClr>
                <a:srgbClr val="014AA0"/>
              </a:buClr>
              <a:buFont typeface="Arial"/>
              <a:buChar char="•"/>
            </a:pPr>
            <a:r>
              <a:rPr sz="1600" b="0" i="0">
                <a:solidFill>
                  <a:srgbClr val="2B2B2B"/>
                </a:solidFill>
                <a:latin typeface="Arial"/>
              </a:rPr>
              <a:t>Los problemas se concentran en el control manual: inventario sin registro, ventas sin detalle, diferencias entre lo pedido y lo recibido, y deudas en un cuaderno.</a:t>
            </a:r>
          </a:p>
          <a:p>
            <a:pPr algn="l" marL="182880" indent="-182880">
              <a:spcBef>
                <a:spcPts val="0"/>
              </a:spcBef>
              <a:spcAft>
                <a:spcPts val="800"/>
              </a:spcAft>
              <a:buClr>
                <a:srgbClr val="014AA0"/>
              </a:buClr>
              <a:buFont typeface="Arial"/>
              <a:buChar char="•"/>
            </a:pPr>
            <a:r>
              <a:rPr sz="1600" b="0" i="0">
                <a:solidFill>
                  <a:srgbClr val="2B2B2B"/>
                </a:solidFill>
                <a:latin typeface="Arial"/>
              </a:rPr>
              <a:t>Se propone un sistema de 5 módulos que conecta ventas, inventario, pedidos y cuentas por cobrar.</a:t>
            </a:r>
          </a:p>
          <a:p>
            <a:pPr algn="l" marL="182880" indent="-182880">
              <a:spcBef>
                <a:spcPts val="0"/>
              </a:spcBef>
              <a:spcAft>
                <a:spcPts val="0"/>
              </a:spcAft>
              <a:buClr>
                <a:srgbClr val="014AA0"/>
              </a:buClr>
              <a:buFont typeface="Arial"/>
              <a:buChar char="•"/>
            </a:pPr>
            <a:r>
              <a:rPr sz="1600" b="0" i="0">
                <a:solidFill>
                  <a:srgbClr val="2B2B2B"/>
                </a:solidFill>
                <a:latin typeface="Arial"/>
              </a:rPr>
              <a:t>13 requerimientos funcionales, 7 no funcionales y 14 historias quedan relacionados entre sí.</a:t>
            </a:r>
          </a:p>
        </p:txBody>
      </p:sp>
      <p:sp>
        <p:nvSpPr>
          <p:cNvPr id="546" name="Encabezado recomendaciones"/>
          <p:cNvSpPr/>
          <p:nvPr/>
        </p:nvSpPr>
        <p:spPr>
          <a:xfrm>
            <a:off x="6217920" y="1508760"/>
            <a:ext cx="4846320" cy="502920"/>
          </a:xfrm>
          <a:prstGeom prst="rect">
            <a:avLst/>
          </a:prstGeom>
          <a:solidFill>
            <a:srgbClr val="FF8303"/>
          </a:solidFill>
          <a:ln>
            <a:noFill/>
          </a:ln>
        </p:spPr>
        <p:txBody>
          <a:bodyPr rtlCol="0" anchor="ctr" wrap="square" lIns="228600" tIns="0" bIns="0">
            <a:noAutofit/>
          </a:bodyPr>
          <a:lstStyle/>
          <a:p>
            <a:pPr algn="l">
              <a:spcBef>
                <a:spcPts val="0"/>
              </a:spcBef>
              <a:spcAft>
                <a:spcPts val="0"/>
              </a:spcAft>
            </a:pPr>
            <a:r>
              <a:rPr sz="1600" b="1" i="0">
                <a:solidFill>
                  <a:srgbClr val="2B2B2B"/>
                </a:solidFill>
                <a:latin typeface="Arial"/>
              </a:rPr>
              <a:t>Recomendaciones</a:t>
            </a:r>
          </a:p>
        </p:txBody>
      </p:sp>
      <p:sp>
        <p:nvSpPr>
          <p:cNvPr id="547" name="Lista recomendaciones"/>
          <p:cNvSpPr/>
          <p:nvPr/>
        </p:nvSpPr>
        <p:spPr>
          <a:xfrm>
            <a:off x="6217920" y="2011680"/>
            <a:ext cx="4846320" cy="3291840"/>
          </a:xfrm>
          <a:prstGeom prst="rect">
            <a:avLst/>
          </a:prstGeom>
          <a:solidFill>
            <a:srgbClr val="F0F1FA"/>
          </a:solidFill>
          <a:ln>
            <a:noFill/>
          </a:ln>
        </p:spPr>
        <p:txBody>
          <a:bodyPr rtlCol="0" anchor="t" wrap="square" lIns="228600" tIns="228600" rIns="182880" bIns="91440">
            <a:noAutofit/>
          </a:bodyPr>
          <a:lstStyle/>
          <a:p>
            <a:pPr algn="l" marL="182880" indent="-182880">
              <a:spcBef>
                <a:spcPts val="0"/>
              </a:spcBef>
              <a:spcAft>
                <a:spcPts val="1000"/>
              </a:spcAft>
              <a:buClr>
                <a:srgbClr val="D96A00"/>
              </a:buClr>
              <a:buFont typeface="Arial"/>
              <a:buChar char="•"/>
            </a:pPr>
            <a:r>
              <a:rPr sz="1600" b="0" i="0">
                <a:solidFill>
                  <a:srgbClr val="2B2B2B"/>
                </a:solidFill>
                <a:latin typeface="Arial"/>
              </a:rPr>
              <a:t>Validar con los dueños los diagramas y requerimientos.</a:t>
            </a:r>
          </a:p>
          <a:p>
            <a:pPr algn="l" marL="182880" indent="-182880">
              <a:spcBef>
                <a:spcPts val="0"/>
              </a:spcBef>
              <a:spcAft>
                <a:spcPts val="1000"/>
              </a:spcAft>
              <a:buClr>
                <a:srgbClr val="D96A00"/>
              </a:buClr>
              <a:buFont typeface="Arial"/>
              <a:buChar char="•"/>
            </a:pPr>
            <a:r>
              <a:rPr sz="1600" b="0" i="0">
                <a:solidFill>
                  <a:srgbClr val="2B2B2B"/>
                </a:solidFill>
                <a:latin typeface="Arial"/>
              </a:rPr>
              <a:t>Confirmar datos pendientes: permisos, factura electrónica, competidores y equipo disponible.</a:t>
            </a:r>
          </a:p>
          <a:p>
            <a:pPr algn="l" marL="182880" indent="-182880">
              <a:spcBef>
                <a:spcPts val="0"/>
              </a:spcBef>
              <a:spcAft>
                <a:spcPts val="1000"/>
              </a:spcAft>
              <a:buClr>
                <a:srgbClr val="D96A00"/>
              </a:buClr>
              <a:buFont typeface="Arial"/>
              <a:buChar char="•"/>
            </a:pPr>
            <a:r>
              <a:rPr sz="1600" b="0" i="0">
                <a:solidFill>
                  <a:srgbClr val="2B2B2B"/>
                </a:solidFill>
                <a:latin typeface="Arial"/>
              </a:rPr>
              <a:t>Cargar bien los productos y las cuentas al iniciar.</a:t>
            </a:r>
          </a:p>
          <a:p>
            <a:pPr algn="l" marL="182880" indent="-182880">
              <a:spcBef>
                <a:spcPts val="0"/>
              </a:spcBef>
              <a:spcAft>
                <a:spcPts val="0"/>
              </a:spcAft>
              <a:buClr>
                <a:srgbClr val="D96A00"/>
              </a:buClr>
              <a:buFont typeface="Arial"/>
              <a:buChar char="•"/>
            </a:pPr>
            <a:r>
              <a:rPr sz="1600" b="0" i="0">
                <a:solidFill>
                  <a:srgbClr val="2B2B2B"/>
                </a:solidFill>
                <a:latin typeface="Arial"/>
              </a:rPr>
              <a:t>Capacitar a las tres personas y mantener respaldos.</a:t>
            </a:r>
          </a:p>
        </p:txBody>
      </p:sp>
      <p:sp>
        <p:nvSpPr>
          <p:cNvPr id="548" name="Siguiente paso"/>
          <p:cNvSpPr/>
          <p:nvPr/>
        </p:nvSpPr>
        <p:spPr>
          <a:xfrm>
            <a:off x="1097280" y="5532120"/>
            <a:ext cx="9966960" cy="640080"/>
          </a:xfrm>
          <a:prstGeom prst="rect">
            <a:avLst/>
          </a:prstGeom>
          <a:solidFill>
            <a:srgbClr val="595959"/>
          </a:solidFill>
          <a:ln>
            <a:noFill/>
          </a:ln>
        </p:spPr>
        <p:txBody>
          <a:bodyPr rtlCol="0" anchor="ctr" wrap="square" lIns="274320" tIns="0" rIns="274320" bIns="0">
            <a:noAutofit/>
          </a:bodyPr>
          <a:lstStyle/>
          <a:p>
            <a:pPr algn="l">
              <a:spcBef>
                <a:spcPts val="0"/>
              </a:spcBef>
              <a:spcAft>
                <a:spcPts val="0"/>
              </a:spcAft>
            </a:pPr>
            <a:r>
              <a:rPr sz="1500" b="1" i="0">
                <a:solidFill>
                  <a:srgbClr val="A2D45E"/>
                </a:solidFill>
                <a:latin typeface="Arial"/>
              </a:rPr>
              <a:t>Siguiente paso, Fase 2: </a:t>
            </a:r>
            <a:r>
              <a:rPr sz="1500" b="0" i="0">
                <a:solidFill>
                  <a:srgbClr val="FFFFFF"/>
                </a:solidFill>
                <a:latin typeface="Arial"/>
              </a:rPr>
              <a:t>estimación, sprints, mockups, modelo entidad-relación y RFC.</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Titulo"/>
          <p:cNvSpPr txBox="1"/>
          <p:nvPr/>
        </p:nvSpPr>
        <p:spPr>
          <a:xfrm>
            <a:off x="1097280" y="457200"/>
            <a:ext cx="8229600" cy="731520"/>
          </a:xfrm>
          <a:prstGeom prst="rect">
            <a:avLst/>
          </a:prstGeom>
          <a:noFill/>
          <a:ln>
            <a:noFill/>
          </a:ln>
        </p:spPr>
        <p:txBody>
          <a:bodyPr anchorCtr="0" anchor="ctr" bIns="45700" lIns="0"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lang="en-US" sz="2800" b="1">
                <a:solidFill>
                  <a:srgbClr val="595959"/>
                </a:solidFill>
                <a:latin typeface="Arial"/>
                <a:ea typeface="Nunito Sans ExtraBold"/>
                <a:cs typeface="Nunito Sans ExtraBold"/>
                <a:sym typeface="Nunito Sans ExtraBold"/>
              </a:rPr>
              <a:t>Evidencia y trabajo en equipo</a:t>
            </a:r>
            <a:endParaRPr>
              <a:solidFill>
                <a:srgbClr val="595959"/>
              </a:solidFill>
              <a:latin typeface="Nunito Sans ExtraBold"/>
              <a:ea typeface="Nunito Sans ExtraBold"/>
              <a:cs typeface="Nunito Sans ExtraBold"/>
              <a:sym typeface="Nunito Sans ExtraBold"/>
            </a:endParaRPr>
          </a:p>
        </p:txBody>
      </p:sp>
      <p:sp>
        <p:nvSpPr>
          <p:cNvPr id="544" name="Evidencia Repositorio Git"/>
          <p:cNvSpPr/>
          <p:nvPr/>
        </p:nvSpPr>
        <p:spPr>
          <a:xfrm>
            <a:off x="1097280" y="1508760"/>
            <a:ext cx="3200400" cy="1600200"/>
          </a:xfrm>
          <a:prstGeom prst="rect">
            <a:avLst/>
          </a:prstGeom>
          <a:solidFill>
            <a:srgbClr val="F0F1FA"/>
          </a:solidFill>
          <a:ln>
            <a:noFill/>
          </a:ln>
        </p:spPr>
        <p:txBody>
          <a:bodyPr rtlCol="0" anchor="t" wrap="square" lIns="73152" rIns="73152">
            <a:noAutofit/>
          </a:bodyPr>
          <a:lstStyle/>
          <a:p>
            <a:pPr algn="ctr"/>
          </a:p>
        </p:txBody>
      </p:sp>
      <p:sp>
        <p:nvSpPr>
          <p:cNvPr id="545" name="Circulo git"/>
          <p:cNvSpPr/>
          <p:nvPr/>
        </p:nvSpPr>
        <p:spPr>
          <a:xfrm>
            <a:off x="1325880" y="1892807"/>
            <a:ext cx="822960" cy="822960"/>
          </a:xfrm>
          <a:prstGeom prst="ellipse">
            <a:avLst/>
          </a:prstGeom>
          <a:solidFill>
            <a:srgbClr val="014AA0"/>
          </a:solidFill>
          <a:ln>
            <a:noFill/>
          </a:ln>
        </p:spPr>
        <p:txBody>
          <a:bodyPr rtlCol="0" anchor="ctr"/>
          <a:lstStyle/>
          <a:p>
            <a:pPr algn="ctr"/>
          </a:p>
        </p:txBody>
      </p:sp>
      <p:pic>
        <p:nvPicPr>
          <p:cNvPr id="546" name="Picture 545" descr=""/>
          <p:cNvPicPr>
            <a:picLocks noChangeAspect="1"/>
          </p:cNvPicPr>
          <p:nvPr/>
        </p:nvPicPr>
        <p:blipFill>
          <a:blip r:embed="rId2"/>
          <a:stretch>
            <a:fillRect/>
          </a:stretch>
        </p:blipFill>
        <p:spPr>
          <a:xfrm>
            <a:off x="1531619" y="2098548"/>
            <a:ext cx="411480" cy="411480"/>
          </a:xfrm>
          <a:prstGeom prst="rect">
            <a:avLst/>
          </a:prstGeom>
        </p:spPr>
      </p:pic>
      <p:sp>
        <p:nvSpPr>
          <p:cNvPr id="547" name="TextBox 546"/>
          <p:cNvSpPr txBox="1"/>
          <p:nvPr/>
        </p:nvSpPr>
        <p:spPr>
          <a:xfrm>
            <a:off x="2286000" y="1600200"/>
            <a:ext cx="1920240" cy="1417320"/>
          </a:xfrm>
          <a:prstGeom prst="rect">
            <a:avLst/>
          </a:prstGeom>
          <a:noFill/>
        </p:spPr>
        <p:txBody>
          <a:bodyPr wrap="square" lIns="45720" rIns="45720" anchor="ctr">
            <a:noAutofit/>
          </a:bodyPr>
          <a:lstStyle/>
          <a:p>
            <a:pPr algn="l">
              <a:spcBef>
                <a:spcPts val="0"/>
              </a:spcBef>
              <a:spcAft>
                <a:spcPts val="400"/>
              </a:spcAft>
            </a:pPr>
            <a:r>
              <a:rPr sz="1600" b="1" i="0">
                <a:solidFill>
                  <a:srgbClr val="014AA0"/>
                </a:solidFill>
                <a:latin typeface="Arial"/>
              </a:rPr>
              <a:t>Repositorio Git</a:t>
            </a:r>
          </a:p>
          <a:p>
            <a:pPr algn="l">
              <a:spcBef>
                <a:spcPts val="0"/>
              </a:spcBef>
              <a:spcAft>
                <a:spcPts val="0"/>
              </a:spcAft>
            </a:pPr>
            <a:r>
              <a:rPr sz="1350" b="0" i="0">
                <a:solidFill>
                  <a:srgbClr val="2B2B2B"/>
                </a:solidFill>
                <a:latin typeface="Arial"/>
              </a:rPr>
              <a:t>Documentación versionada con el historial de cambios del equipo.</a:t>
            </a:r>
          </a:p>
        </p:txBody>
      </p:sp>
      <p:sp>
        <p:nvSpPr>
          <p:cNvPr id="548" name="Evidencia Tablero Kanban"/>
          <p:cNvSpPr/>
          <p:nvPr/>
        </p:nvSpPr>
        <p:spPr>
          <a:xfrm>
            <a:off x="4480560" y="1508760"/>
            <a:ext cx="3200400" cy="1600200"/>
          </a:xfrm>
          <a:prstGeom prst="rect">
            <a:avLst/>
          </a:prstGeom>
          <a:solidFill>
            <a:srgbClr val="F0F1FA"/>
          </a:solidFill>
          <a:ln>
            <a:noFill/>
          </a:ln>
        </p:spPr>
        <p:txBody>
          <a:bodyPr rtlCol="0" anchor="t" wrap="square" lIns="73152" rIns="73152">
            <a:noAutofit/>
          </a:bodyPr>
          <a:lstStyle/>
          <a:p>
            <a:pPr algn="ctr"/>
          </a:p>
        </p:txBody>
      </p:sp>
      <p:sp>
        <p:nvSpPr>
          <p:cNvPr id="549" name="Circulo tasks"/>
          <p:cNvSpPr/>
          <p:nvPr/>
        </p:nvSpPr>
        <p:spPr>
          <a:xfrm>
            <a:off x="4709160" y="1892807"/>
            <a:ext cx="822960" cy="822960"/>
          </a:xfrm>
          <a:prstGeom prst="ellipse">
            <a:avLst/>
          </a:prstGeom>
          <a:solidFill>
            <a:srgbClr val="FF8303"/>
          </a:solidFill>
          <a:ln>
            <a:noFill/>
          </a:ln>
        </p:spPr>
        <p:txBody>
          <a:bodyPr rtlCol="0" anchor="ctr"/>
          <a:lstStyle/>
          <a:p>
            <a:pPr algn="ctr"/>
          </a:p>
        </p:txBody>
      </p:sp>
      <p:pic>
        <p:nvPicPr>
          <p:cNvPr id="550" name="Picture 549" descr=""/>
          <p:cNvPicPr>
            <a:picLocks noChangeAspect="1"/>
          </p:cNvPicPr>
          <p:nvPr/>
        </p:nvPicPr>
        <p:blipFill>
          <a:blip r:embed="rId4"/>
          <a:stretch>
            <a:fillRect/>
          </a:stretch>
        </p:blipFill>
        <p:spPr>
          <a:xfrm>
            <a:off x="4914900" y="2098548"/>
            <a:ext cx="411480" cy="411480"/>
          </a:xfrm>
          <a:prstGeom prst="rect">
            <a:avLst/>
          </a:prstGeom>
        </p:spPr>
      </p:pic>
      <p:sp>
        <p:nvSpPr>
          <p:cNvPr id="551" name="TextBox 550"/>
          <p:cNvSpPr txBox="1"/>
          <p:nvPr/>
        </p:nvSpPr>
        <p:spPr>
          <a:xfrm>
            <a:off x="5669280" y="1600200"/>
            <a:ext cx="1920240" cy="1417320"/>
          </a:xfrm>
          <a:prstGeom prst="rect">
            <a:avLst/>
          </a:prstGeom>
          <a:noFill/>
        </p:spPr>
        <p:txBody>
          <a:bodyPr wrap="square" lIns="45720" rIns="45720" anchor="ctr">
            <a:noAutofit/>
          </a:bodyPr>
          <a:lstStyle/>
          <a:p>
            <a:pPr algn="l">
              <a:spcBef>
                <a:spcPts val="0"/>
              </a:spcBef>
              <a:spcAft>
                <a:spcPts val="400"/>
              </a:spcAft>
            </a:pPr>
            <a:r>
              <a:rPr sz="1600" b="1" i="0">
                <a:solidFill>
                  <a:srgbClr val="014AA0"/>
                </a:solidFill>
                <a:latin typeface="Arial"/>
              </a:rPr>
              <a:t>Tablero Kanban</a:t>
            </a:r>
          </a:p>
          <a:p>
            <a:pPr algn="l">
              <a:spcBef>
                <a:spcPts val="0"/>
              </a:spcBef>
              <a:spcAft>
                <a:spcPts val="0"/>
              </a:spcAft>
            </a:pPr>
            <a:r>
              <a:rPr sz="1350" b="0" i="0">
                <a:solidFill>
                  <a:srgbClr val="2B2B2B"/>
                </a:solidFill>
                <a:latin typeface="Arial"/>
              </a:rPr>
              <a:t>Tareas en columnas: Pendiente, En proceso y Terminado.</a:t>
            </a:r>
          </a:p>
        </p:txBody>
      </p:sp>
      <p:sp>
        <p:nvSpPr>
          <p:cNvPr id="552" name="Evidencia Bitácoras"/>
          <p:cNvSpPr/>
          <p:nvPr/>
        </p:nvSpPr>
        <p:spPr>
          <a:xfrm>
            <a:off x="7863840" y="1508760"/>
            <a:ext cx="3200400" cy="1600200"/>
          </a:xfrm>
          <a:prstGeom prst="rect">
            <a:avLst/>
          </a:prstGeom>
          <a:solidFill>
            <a:srgbClr val="F0F1FA"/>
          </a:solidFill>
          <a:ln>
            <a:noFill/>
          </a:ln>
        </p:spPr>
        <p:txBody>
          <a:bodyPr rtlCol="0" anchor="t" wrap="square" lIns="73152" rIns="73152">
            <a:noAutofit/>
          </a:bodyPr>
          <a:lstStyle/>
          <a:p>
            <a:pPr algn="ctr"/>
          </a:p>
        </p:txBody>
      </p:sp>
      <p:sp>
        <p:nvSpPr>
          <p:cNvPr id="553" name="Circulo clip"/>
          <p:cNvSpPr/>
          <p:nvPr/>
        </p:nvSpPr>
        <p:spPr>
          <a:xfrm>
            <a:off x="8092440" y="1892807"/>
            <a:ext cx="822960" cy="822960"/>
          </a:xfrm>
          <a:prstGeom prst="ellipse">
            <a:avLst/>
          </a:prstGeom>
          <a:solidFill>
            <a:srgbClr val="595959"/>
          </a:solidFill>
          <a:ln>
            <a:noFill/>
          </a:ln>
        </p:spPr>
        <p:txBody>
          <a:bodyPr rtlCol="0" anchor="ctr"/>
          <a:lstStyle/>
          <a:p>
            <a:pPr algn="ctr"/>
          </a:p>
        </p:txBody>
      </p:sp>
      <p:pic>
        <p:nvPicPr>
          <p:cNvPr id="554" name="Picture 553" descr=""/>
          <p:cNvPicPr>
            <a:picLocks noChangeAspect="1"/>
          </p:cNvPicPr>
          <p:nvPr/>
        </p:nvPicPr>
        <p:blipFill>
          <a:blip r:embed="rId5"/>
          <a:stretch>
            <a:fillRect/>
          </a:stretch>
        </p:blipFill>
        <p:spPr>
          <a:xfrm>
            <a:off x="8298179" y="2098548"/>
            <a:ext cx="411480" cy="411480"/>
          </a:xfrm>
          <a:prstGeom prst="rect">
            <a:avLst/>
          </a:prstGeom>
        </p:spPr>
      </p:pic>
      <p:sp>
        <p:nvSpPr>
          <p:cNvPr id="555" name="TextBox 554"/>
          <p:cNvSpPr txBox="1"/>
          <p:nvPr/>
        </p:nvSpPr>
        <p:spPr>
          <a:xfrm>
            <a:off x="9052560" y="1600200"/>
            <a:ext cx="1920240" cy="1417320"/>
          </a:xfrm>
          <a:prstGeom prst="rect">
            <a:avLst/>
          </a:prstGeom>
          <a:noFill/>
        </p:spPr>
        <p:txBody>
          <a:bodyPr wrap="square" lIns="45720" rIns="45720" anchor="ctr">
            <a:noAutofit/>
          </a:bodyPr>
          <a:lstStyle/>
          <a:p>
            <a:pPr algn="l">
              <a:spcBef>
                <a:spcPts val="0"/>
              </a:spcBef>
              <a:spcAft>
                <a:spcPts val="400"/>
              </a:spcAft>
            </a:pPr>
            <a:r>
              <a:rPr sz="1600" b="1" i="0">
                <a:solidFill>
                  <a:srgbClr val="014AA0"/>
                </a:solidFill>
                <a:latin typeface="Arial"/>
              </a:rPr>
              <a:t>Bitácoras</a:t>
            </a:r>
          </a:p>
          <a:p>
            <a:pPr algn="l">
              <a:spcBef>
                <a:spcPts val="0"/>
              </a:spcBef>
              <a:spcAft>
                <a:spcPts val="0"/>
              </a:spcAft>
            </a:pPr>
            <a:r>
              <a:rPr sz="1350" b="0" i="0">
                <a:solidFill>
                  <a:srgbClr val="2B2B2B"/>
                </a:solidFill>
                <a:latin typeface="Arial"/>
              </a:rPr>
              <a:t>Escenario, confidencialidad, tareas y firmas del equipo.</a:t>
            </a:r>
          </a:p>
        </p:txBody>
      </p:sp>
      <p:sp>
        <p:nvSpPr>
          <p:cNvPr id="556" name="TextBox 555"/>
          <p:cNvSpPr txBox="1"/>
          <p:nvPr/>
        </p:nvSpPr>
        <p:spPr>
          <a:xfrm>
            <a:off x="1097280" y="3337560"/>
            <a:ext cx="5486400" cy="274320"/>
          </a:xfrm>
          <a:prstGeom prst="rect">
            <a:avLst/>
          </a:prstGeom>
          <a:noFill/>
        </p:spPr>
        <p:txBody>
          <a:bodyPr wrap="square" lIns="0" tIns="0" rIns="0" bIns="0" anchor="t">
            <a:noAutofit/>
          </a:bodyPr>
          <a:lstStyle/>
          <a:p>
            <a:pPr algn="l">
              <a:spcBef>
                <a:spcPts val="0"/>
              </a:spcBef>
              <a:spcAft>
                <a:spcPts val="0"/>
              </a:spcAft>
            </a:pPr>
            <a:r>
              <a:rPr sz="1200" b="1" i="0">
                <a:solidFill>
                  <a:srgbClr val="595959"/>
                </a:solidFill>
                <a:latin typeface="Arial"/>
              </a:rPr>
              <a:t>REPARTO DE TAREAS (BITÁCORA N.º 1)</a:t>
            </a:r>
          </a:p>
        </p:txBody>
      </p:sp>
      <p:sp>
        <p:nvSpPr>
          <p:cNvPr id="557" name="Integrante Rebeca Morales Tijerino"/>
          <p:cNvSpPr/>
          <p:nvPr/>
        </p:nvSpPr>
        <p:spPr>
          <a:xfrm>
            <a:off x="1097280" y="3657600"/>
            <a:ext cx="2331720" cy="1920240"/>
          </a:xfrm>
          <a:prstGeom prst="rect">
            <a:avLst/>
          </a:prstGeom>
          <a:solidFill>
            <a:srgbClr val="F0F1FA"/>
          </a:solidFill>
          <a:ln>
            <a:noFill/>
          </a:ln>
        </p:spPr>
        <p:txBody>
          <a:bodyPr rtlCol="0" anchor="t" wrap="square" lIns="164592" tIns="137160" rIns="109728">
            <a:noAutofit/>
          </a:bodyPr>
          <a:lstStyle/>
          <a:p>
            <a:pPr algn="l">
              <a:spcBef>
                <a:spcPts val="0"/>
              </a:spcBef>
              <a:spcAft>
                <a:spcPts val="600"/>
              </a:spcAft>
            </a:pPr>
            <a:r>
              <a:rPr sz="1500" b="1" i="0">
                <a:solidFill>
                  <a:srgbClr val="014AA0"/>
                </a:solidFill>
                <a:latin typeface="Arial"/>
              </a:rPr>
              <a:t>Rebeca Morales Tijerino</a:t>
            </a:r>
          </a:p>
          <a:p>
            <a:pPr algn="l">
              <a:spcBef>
                <a:spcPts val="0"/>
              </a:spcBef>
              <a:spcAft>
                <a:spcPts val="0"/>
              </a:spcAft>
            </a:pPr>
            <a:r>
              <a:rPr sz="1350" b="0" i="0">
                <a:solidFill>
                  <a:srgbClr val="2B2B2B"/>
                </a:solidFill>
                <a:latin typeface="Arial"/>
              </a:rPr>
              <a:t>Ficha de la empresa y organigrama.</a:t>
            </a:r>
          </a:p>
        </p:txBody>
      </p:sp>
      <p:sp>
        <p:nvSpPr>
          <p:cNvPr id="558" name="Integrante Nicole Sánchez Gómez"/>
          <p:cNvSpPr/>
          <p:nvPr/>
        </p:nvSpPr>
        <p:spPr>
          <a:xfrm>
            <a:off x="3639311" y="3657600"/>
            <a:ext cx="2331720" cy="1920240"/>
          </a:xfrm>
          <a:prstGeom prst="rect">
            <a:avLst/>
          </a:prstGeom>
          <a:solidFill>
            <a:srgbClr val="F0F1FA"/>
          </a:solidFill>
          <a:ln>
            <a:noFill/>
          </a:ln>
        </p:spPr>
        <p:txBody>
          <a:bodyPr rtlCol="0" anchor="t" wrap="square" lIns="164592" tIns="137160" rIns="109728">
            <a:noAutofit/>
          </a:bodyPr>
          <a:lstStyle/>
          <a:p>
            <a:pPr algn="l">
              <a:spcBef>
                <a:spcPts val="0"/>
              </a:spcBef>
              <a:spcAft>
                <a:spcPts val="600"/>
              </a:spcAft>
            </a:pPr>
            <a:r>
              <a:rPr sz="1500" b="1" i="0">
                <a:solidFill>
                  <a:srgbClr val="D96A00"/>
                </a:solidFill>
                <a:latin typeface="Arial"/>
              </a:rPr>
              <a:t>Nicole Sánchez Gómez</a:t>
            </a:r>
          </a:p>
          <a:p>
            <a:pPr algn="l">
              <a:spcBef>
                <a:spcPts val="0"/>
              </a:spcBef>
              <a:spcAft>
                <a:spcPts val="0"/>
              </a:spcAft>
            </a:pPr>
            <a:r>
              <a:rPr sz="1350" b="0" i="0">
                <a:solidFill>
                  <a:srgbClr val="2B2B2B"/>
                </a:solidFill>
                <a:latin typeface="Arial"/>
              </a:rPr>
              <a:t>Diagramas BPMN, cadena de valor, problema y justificación.</a:t>
            </a:r>
          </a:p>
        </p:txBody>
      </p:sp>
      <p:sp>
        <p:nvSpPr>
          <p:cNvPr id="559" name="Integrante Josseph Ortiz Navarro (líder)"/>
          <p:cNvSpPr/>
          <p:nvPr/>
        </p:nvSpPr>
        <p:spPr>
          <a:xfrm>
            <a:off x="6181344" y="3657600"/>
            <a:ext cx="2331720" cy="1920240"/>
          </a:xfrm>
          <a:prstGeom prst="rect">
            <a:avLst/>
          </a:prstGeom>
          <a:solidFill>
            <a:srgbClr val="F0F1FA"/>
          </a:solidFill>
          <a:ln>
            <a:noFill/>
          </a:ln>
        </p:spPr>
        <p:txBody>
          <a:bodyPr rtlCol="0" anchor="t" wrap="square" lIns="164592" tIns="137160" rIns="109728">
            <a:noAutofit/>
          </a:bodyPr>
          <a:lstStyle/>
          <a:p>
            <a:pPr algn="l">
              <a:spcBef>
                <a:spcPts val="0"/>
              </a:spcBef>
              <a:spcAft>
                <a:spcPts val="600"/>
              </a:spcAft>
            </a:pPr>
            <a:r>
              <a:rPr sz="1500" b="1" i="0">
                <a:solidFill>
                  <a:srgbClr val="595959"/>
                </a:solidFill>
                <a:latin typeface="Arial"/>
              </a:rPr>
              <a:t>Josseph Ortiz Navarro (líder)</a:t>
            </a:r>
          </a:p>
          <a:p>
            <a:pPr algn="l">
              <a:spcBef>
                <a:spcPts val="0"/>
              </a:spcBef>
              <a:spcAft>
                <a:spcPts val="0"/>
              </a:spcAft>
            </a:pPr>
            <a:r>
              <a:rPr sz="1350" b="0" i="0">
                <a:solidFill>
                  <a:srgbClr val="2B2B2B"/>
                </a:solidFill>
                <a:latin typeface="Arial"/>
              </a:rPr>
              <a:t>Requerimientos, casos de uso, repositorio Git y entrega.</a:t>
            </a:r>
          </a:p>
        </p:txBody>
      </p:sp>
      <p:sp>
        <p:nvSpPr>
          <p:cNvPr id="560" name="Integrante Fernanda Rodríguez Alvarado"/>
          <p:cNvSpPr/>
          <p:nvPr/>
        </p:nvSpPr>
        <p:spPr>
          <a:xfrm>
            <a:off x="8723376" y="3657600"/>
            <a:ext cx="2331720" cy="1920240"/>
          </a:xfrm>
          <a:prstGeom prst="rect">
            <a:avLst/>
          </a:prstGeom>
          <a:solidFill>
            <a:srgbClr val="F0F1FA"/>
          </a:solidFill>
          <a:ln>
            <a:noFill/>
          </a:ln>
        </p:spPr>
        <p:txBody>
          <a:bodyPr rtlCol="0" anchor="t" wrap="square" lIns="164592" tIns="137160" rIns="109728">
            <a:noAutofit/>
          </a:bodyPr>
          <a:lstStyle/>
          <a:p>
            <a:pPr algn="l">
              <a:spcBef>
                <a:spcPts val="0"/>
              </a:spcBef>
              <a:spcAft>
                <a:spcPts val="600"/>
              </a:spcAft>
            </a:pPr>
            <a:r>
              <a:rPr sz="1500" b="1" i="0">
                <a:solidFill>
                  <a:srgbClr val="4E8A12"/>
                </a:solidFill>
                <a:latin typeface="Arial"/>
              </a:rPr>
              <a:t>Fernanda Rodríguez Alvarado</a:t>
            </a:r>
          </a:p>
          <a:p>
            <a:pPr algn="l">
              <a:spcBef>
                <a:spcPts val="0"/>
              </a:spcBef>
              <a:spcAft>
                <a:spcPts val="0"/>
              </a:spcAft>
            </a:pPr>
            <a:r>
              <a:rPr sz="1350" b="0" i="0">
                <a:solidFill>
                  <a:srgbClr val="2B2B2B"/>
                </a:solidFill>
                <a:latin typeface="Arial"/>
              </a:rPr>
              <a:t>Historias de usuario, riesgos y tablero Kanban.</a:t>
            </a:r>
          </a:p>
        </p:txBody>
      </p:sp>
      <p:sp>
        <p:nvSpPr>
          <p:cNvPr id="561" name="TextBox 560"/>
          <p:cNvSpPr txBox="1"/>
          <p:nvPr/>
        </p:nvSpPr>
        <p:spPr>
          <a:xfrm>
            <a:off x="1097280" y="5760720"/>
            <a:ext cx="9966960" cy="411480"/>
          </a:xfrm>
          <a:prstGeom prst="rect">
            <a:avLst/>
          </a:prstGeom>
          <a:noFill/>
        </p:spPr>
        <p:txBody>
          <a:bodyPr wrap="square" lIns="0" tIns="0" rIns="0" bIns="0" anchor="t">
            <a:noAutofit/>
          </a:bodyPr>
          <a:lstStyle/>
          <a:p>
            <a:pPr algn="l">
              <a:spcBef>
                <a:spcPts val="0"/>
              </a:spcBef>
              <a:spcAft>
                <a:spcPts val="0"/>
              </a:spcAft>
            </a:pPr>
            <a:r>
              <a:rPr sz="1300" b="0" i="1">
                <a:solidFill>
                  <a:srgbClr val="595959"/>
                </a:solidFill>
                <a:latin typeface="Arial"/>
              </a:rPr>
              <a:t>Todo el equipo: entrevista con los dueños, integración del documento y presentación.</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9F5"/>
        </a:solidFill>
      </p:bgPr>
    </p:bg>
    <p:spTree>
      <p:nvGrpSpPr>
        <p:cNvPr id="547" name="Shape 547"/>
        <p:cNvGrpSpPr/>
        <p:nvPr/>
      </p:nvGrpSpPr>
      <p:grpSpPr>
        <a:xfrm>
          <a:off x="0" y="0"/>
          <a:ext cx="0" cy="0"/>
          <a:chOff x="0" y="0"/>
          <a:chExt cx="0" cy="0"/>
        </a:xfrm>
      </p:grpSpPr>
      <p:sp>
        <p:nvSpPr>
          <p:cNvPr id="548" name="Google Shape;548;p47"/>
          <p:cNvSpPr/>
          <p:nvPr/>
        </p:nvSpPr>
        <p:spPr>
          <a:xfrm>
            <a:off x="986400" y="986400"/>
            <a:ext cx="5601000" cy="2604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9" name="Google Shape;549;p47"/>
          <p:cNvSpPr/>
          <p:nvPr/>
        </p:nvSpPr>
        <p:spPr>
          <a:xfrm>
            <a:off x="8128000" y="4663747"/>
            <a:ext cx="4063800" cy="2194200"/>
          </a:xfrm>
          <a:prstGeom prst="rect">
            <a:avLst/>
          </a:prstGeom>
          <a:solidFill>
            <a:srgbClr val="A2D4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47"/>
          <p:cNvSpPr/>
          <p:nvPr/>
        </p:nvSpPr>
        <p:spPr>
          <a:xfrm>
            <a:off x="8128000" y="1"/>
            <a:ext cx="4063800" cy="21942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47"/>
          <p:cNvSpPr txBox="1"/>
          <p:nvPr/>
        </p:nvSpPr>
        <p:spPr>
          <a:xfrm>
            <a:off x="8574325" y="1163975"/>
            <a:ext cx="33303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FFFFFF"/>
                </a:solidFill>
                <a:latin typeface="Nunito Sans"/>
                <a:ea typeface="Nunito Sans"/>
                <a:cs typeface="Nunito Sans"/>
                <a:sym typeface="Nunito Sans"/>
              </a:rPr>
              <a:t>(506) 4040-0440 EXT 0123</a:t>
            </a:r>
            <a:endParaRPr b="1" sz="1800">
              <a:solidFill>
                <a:srgbClr val="FFFFFF"/>
              </a:solidFill>
              <a:latin typeface="Nunito Sans"/>
              <a:ea typeface="Nunito Sans"/>
              <a:cs typeface="Nunito Sans"/>
              <a:sym typeface="Nunito Sans"/>
            </a:endParaRPr>
          </a:p>
        </p:txBody>
      </p:sp>
      <p:pic>
        <p:nvPicPr>
          <p:cNvPr id="552" name="Google Shape;552;p47"/>
          <p:cNvPicPr preferRelativeResize="0"/>
          <p:nvPr/>
        </p:nvPicPr>
        <p:blipFill>
          <a:blip r:embed="rId3">
            <a:alphaModFix/>
          </a:blip>
          <a:stretch>
            <a:fillRect/>
          </a:stretch>
        </p:blipFill>
        <p:spPr>
          <a:xfrm>
            <a:off x="10012725" y="564848"/>
            <a:ext cx="453500" cy="453525"/>
          </a:xfrm>
          <a:prstGeom prst="rect">
            <a:avLst/>
          </a:prstGeom>
          <a:noFill/>
          <a:ln>
            <a:noFill/>
          </a:ln>
        </p:spPr>
      </p:pic>
      <p:pic>
        <p:nvPicPr>
          <p:cNvPr id="553" name="Google Shape;553;p47"/>
          <p:cNvPicPr preferRelativeResize="0"/>
          <p:nvPr/>
        </p:nvPicPr>
        <p:blipFill>
          <a:blip r:embed="rId4">
            <a:alphaModFix/>
          </a:blip>
          <a:stretch>
            <a:fillRect/>
          </a:stretch>
        </p:blipFill>
        <p:spPr>
          <a:xfrm>
            <a:off x="9027262" y="5540136"/>
            <a:ext cx="441421" cy="441431"/>
          </a:xfrm>
          <a:prstGeom prst="rect">
            <a:avLst/>
          </a:prstGeom>
          <a:noFill/>
          <a:ln>
            <a:noFill/>
          </a:ln>
        </p:spPr>
      </p:pic>
      <p:pic>
        <p:nvPicPr>
          <p:cNvPr id="554" name="Google Shape;554;p47"/>
          <p:cNvPicPr preferRelativeResize="0"/>
          <p:nvPr/>
        </p:nvPicPr>
        <p:blipFill>
          <a:blip r:embed="rId5">
            <a:alphaModFix/>
          </a:blip>
          <a:stretch>
            <a:fillRect/>
          </a:stretch>
        </p:blipFill>
        <p:spPr>
          <a:xfrm>
            <a:off x="9727933" y="5543169"/>
            <a:ext cx="205593" cy="435384"/>
          </a:xfrm>
          <a:prstGeom prst="rect">
            <a:avLst/>
          </a:prstGeom>
          <a:noFill/>
          <a:ln>
            <a:noFill/>
          </a:ln>
        </p:spPr>
      </p:pic>
      <p:pic>
        <p:nvPicPr>
          <p:cNvPr id="555" name="Google Shape;555;p47"/>
          <p:cNvPicPr preferRelativeResize="0"/>
          <p:nvPr/>
        </p:nvPicPr>
        <p:blipFill>
          <a:blip r:embed="rId6">
            <a:alphaModFix/>
          </a:blip>
          <a:stretch>
            <a:fillRect/>
          </a:stretch>
        </p:blipFill>
        <p:spPr>
          <a:xfrm>
            <a:off x="10192777" y="5534090"/>
            <a:ext cx="453514" cy="453525"/>
          </a:xfrm>
          <a:prstGeom prst="rect">
            <a:avLst/>
          </a:prstGeom>
          <a:noFill/>
          <a:ln>
            <a:noFill/>
          </a:ln>
        </p:spPr>
      </p:pic>
      <p:pic>
        <p:nvPicPr>
          <p:cNvPr id="556" name="Google Shape;556;p47"/>
          <p:cNvPicPr preferRelativeResize="0"/>
          <p:nvPr/>
        </p:nvPicPr>
        <p:blipFill>
          <a:blip r:embed="rId7">
            <a:alphaModFix/>
          </a:blip>
          <a:stretch>
            <a:fillRect/>
          </a:stretch>
        </p:blipFill>
        <p:spPr>
          <a:xfrm>
            <a:off x="10905542" y="5576429"/>
            <a:ext cx="386999" cy="368867"/>
          </a:xfrm>
          <a:prstGeom prst="rect">
            <a:avLst/>
          </a:prstGeom>
          <a:noFill/>
          <a:ln>
            <a:noFill/>
          </a:ln>
        </p:spPr>
      </p:pic>
      <p:sp>
        <p:nvSpPr>
          <p:cNvPr id="557" name="Google Shape;557;p47"/>
          <p:cNvSpPr txBox="1"/>
          <p:nvPr/>
        </p:nvSpPr>
        <p:spPr>
          <a:xfrm>
            <a:off x="1658964" y="1562622"/>
            <a:ext cx="4068600" cy="121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400">
              <a:solidFill>
                <a:schemeClr val="lt1"/>
              </a:solidFill>
              <a:latin typeface="Nunito Sans"/>
              <a:ea typeface="Nunito Sans"/>
              <a:cs typeface="Nunito Sans"/>
              <a:sym typeface="Nunito Sans"/>
            </a:endParaRPr>
          </a:p>
          <a:p>
            <a:pPr indent="0" lvl="0" marL="0" rtl="0" algn="ctr">
              <a:spcBef>
                <a:spcPts val="0"/>
              </a:spcBef>
              <a:spcAft>
                <a:spcPts val="0"/>
              </a:spcAft>
              <a:buNone/>
            </a:pPr>
            <a:r>
              <a:rPr lang="en-US" sz="4000">
                <a:solidFill>
                  <a:schemeClr val="lt1"/>
                </a:solidFill>
                <a:latin typeface="Nunito Sans Black"/>
                <a:ea typeface="Nunito Sans Black"/>
                <a:cs typeface="Nunito Sans Black"/>
                <a:sym typeface="Nunito Sans Black"/>
              </a:rPr>
              <a:t>¡GRACIAS!</a:t>
            </a:r>
            <a:endParaRPr sz="4000">
              <a:solidFill>
                <a:schemeClr val="lt1"/>
              </a:solidFill>
              <a:latin typeface="Nunito Sans Black"/>
              <a:ea typeface="Nunito Sans Black"/>
              <a:cs typeface="Nunito Sans Black"/>
              <a:sym typeface="Nunito Sans Black"/>
            </a:endParaRPr>
          </a:p>
        </p:txBody>
      </p:sp>
      <p:pic>
        <p:nvPicPr>
          <p:cNvPr id="558" name="Google Shape;558;p47"/>
          <p:cNvPicPr preferRelativeResize="0"/>
          <p:nvPr/>
        </p:nvPicPr>
        <p:blipFill>
          <a:blip r:embed="rId8">
            <a:alphaModFix/>
          </a:blip>
          <a:stretch>
            <a:fillRect/>
          </a:stretch>
        </p:blipFill>
        <p:spPr>
          <a:xfrm>
            <a:off x="1792513" y="4392076"/>
            <a:ext cx="3988775" cy="1218900"/>
          </a:xfrm>
          <a:prstGeom prst="rect">
            <a:avLst/>
          </a:prstGeom>
          <a:noFill/>
          <a:ln>
            <a:noFill/>
          </a:ln>
        </p:spPr>
      </p:pic>
      <p:sp>
        <p:nvSpPr>
          <p:cNvPr id="559" name="Google Shape;559;p47"/>
          <p:cNvSpPr/>
          <p:nvPr/>
        </p:nvSpPr>
        <p:spPr>
          <a:xfrm>
            <a:off x="8128000" y="2331874"/>
            <a:ext cx="4063800" cy="2194200"/>
          </a:xfrm>
          <a:prstGeom prst="rect">
            <a:avLst/>
          </a:prstGeom>
          <a:solidFill>
            <a:srgbClr val="FF83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7"/>
          <p:cNvSpPr txBox="1"/>
          <p:nvPr/>
        </p:nvSpPr>
        <p:spPr>
          <a:xfrm>
            <a:off x="9062946" y="3574550"/>
            <a:ext cx="21939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FFFFFF"/>
                </a:solidFill>
                <a:latin typeface="Nunito Sans"/>
                <a:ea typeface="Nunito Sans"/>
                <a:cs typeface="Nunito Sans"/>
                <a:sym typeface="Nunito Sans"/>
              </a:rPr>
              <a:t>www.upi.ac.cr</a:t>
            </a:r>
            <a:endParaRPr b="1" sz="2000">
              <a:solidFill>
                <a:srgbClr val="FFFFFF"/>
              </a:solidFill>
              <a:latin typeface="Nunito Sans"/>
              <a:ea typeface="Nunito Sans"/>
              <a:cs typeface="Nunito Sans"/>
              <a:sym typeface="Nunito Sans"/>
            </a:endParaRPr>
          </a:p>
        </p:txBody>
      </p:sp>
      <p:pic>
        <p:nvPicPr>
          <p:cNvPr id="561" name="Google Shape;561;p47"/>
          <p:cNvPicPr preferRelativeResize="0"/>
          <p:nvPr/>
        </p:nvPicPr>
        <p:blipFill>
          <a:blip r:embed="rId9">
            <a:alphaModFix/>
          </a:blip>
          <a:stretch>
            <a:fillRect/>
          </a:stretch>
        </p:blipFill>
        <p:spPr>
          <a:xfrm>
            <a:off x="9792513" y="2781526"/>
            <a:ext cx="734775" cy="786074"/>
          </a:xfrm>
          <a:prstGeom prst="rect">
            <a:avLst/>
          </a:prstGeom>
          <a:noFill/>
          <a:ln>
            <a:noFill/>
          </a:ln>
        </p:spPr>
      </p:pic>
      <p:sp>
        <p:nvSpPr>
          <p:cNvPr id="562" name="Google Shape;562;p47"/>
          <p:cNvSpPr/>
          <p:nvPr/>
        </p:nvSpPr>
        <p:spPr>
          <a:xfrm>
            <a:off x="0" y="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3" name="Google Shape;563;p47"/>
          <p:cNvSpPr/>
          <p:nvPr/>
        </p:nvSpPr>
        <p:spPr>
          <a:xfrm rot="-1800000">
            <a:off x="324883" y="2777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